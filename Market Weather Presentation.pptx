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681E"/>
    <a:srgbClr val="FBE8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114"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0909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The question: seven days before a market, can forecast data tell organisers whether the 10 am to 4 pm market window will have unsuitable weather? This deck walks through the decision, data, modelling, holdout results and the Streamlit app.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Stakeholder: market organisers. The output is a probability of unsuitable weather plus a recommendation, framed as decision support rather than an automated cancellation.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A missed unsuitable day means setup, transport, stock and stallholder costs are already sunk when the weather turns. A false alarm costs planning time and lost trading. This asymmetry drives the metric choice and the later cost scenarios.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Palmerston North (-40.36, 175.61), Open-Meteo default forecast model (GFS). Day-7 rain and wind forecasts only exist from 25 Jan 2024, which caps the history; 22,788 hourly rows in each file. A day is kept only if all six precipitation hours and all seven hourly wind readings exist for both forecast and observation. Every complete date is treated as a possible market 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Example: 3 mm of rain with 20 km/h max wind is unsuitable because the rain limit is exceeded. Classes are imbalanced, which is why balanced accuracy is the main ranking metric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Errors were computed on training data only, so nothing leaks from validation or test. Wind errors range from about -24 to +39 km/h, rain errors up to +22.5 mm.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Split 70/15/15 by date; 14 days fall in the two seven-day gaps and are dropped, leaving 935. In validation, the window grows from 657 to 784 training rows. Training now spans Jan 2024 to Nov 2025, so it holds two of each season, and the unsuitable rate is steadier across periods (30.7%, 29.6%, 23.1%).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Every model catches more bad days than the forecast rule, but most raise more false alarms at the default 0.50 threshold. The majority class still scores 70.4% accuracy while catching nothing, which is why balanced accuracy is the ranking metric. Gradient boosting was dropped before tuning. Ranking order: balanced accuracy, then recall, then F1.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Tuning changed ROC-AUC very little: CatBoost 0.756 to 0.758, LightGBM 0.736 to 0.748, logistic regression 0.780 to 0.781. Logistic regression and random forest picked balanced class weights, which push probabilities up and worsen their Brier scores. LightGBM and CatBoost have the best-calibrated probabilities. Not independently confirmed: the random forest row; a cloud rerun from the same CSVs picked different random forest settings, likely a library-version difference in the random search. All other rows match.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CatBoost and logistic regression are nearly tied on balanced accuracy (71.3% vs 71.2%); CatBoost wins on recall, catching 11 more bad days for 26 more false alarms. Under 3:1 validation costs CatBoost at 0.37 has the lowest cost of any model (28,500 dollars). Under 1:1 and 5:1, logistic regression is cheapest. Not independently confirmed: the random forest row (see tuning notes). The CatBoost, logistic regression and LightGBM rows were reproduced exactly.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Balanced accuracy is 6.1 points above the forecast rule. Recall fell from 90.0% on validation to 66.7% on test, but ranking ability held up (ROC-AUC 0.758 on validation, 0.797 on test). Brier score on test is 0.149; mean predicted risk 32.2% against an actual 23.1%. All holdout figures were reproduced exactly by an independent rerun from the CSVs. Specificity 77.3%: 85 of 110 good days were correctly left alone.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Against the forecast rule, CatBoost has 7 fewer missed days and 10 more false alarms, so it is cheaper whenever a missed day costs more than about 1.4 times a false alarm (10 / 7). Savings vs the rule: 1,500 dollars more at 1:1, 5,500 dollars saved at 3:1, 12,500 dollars saved at 5:1. These are scenario assumptions, not observed losses.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The app reads its threshold from the model file, so exporting the 2024 to 2026 CatBoost model will switch it to 0.37 with no code change. Example outputs from testing the earlier model: 0 mm and 10 km/h gives 11.76%, suitable; 15 mm and 55 km/h gives 69.14%, backup plan. The cost estimate is probability times the missed-day loss when no warning is given, or one minus probability times the backup cost when it warns. It can also call an AWS SageMaker endpoint instead of the local model file if one is configured.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Contribution: a week-ahead decision tool for one real market that gives a probability, a recommendation and a cost estimate, plus an honest benchmark of where machine learning does and does not beat simply trusting the forecast. The contrast with other work is inferred, not from a literature review: many weather classifiers train on observed weather, which would not be available seven days before the market. Fit count: 5 initial models plus 72 tuning candidates, each refit for all 135 validation days, which is about 10,400 fits. The first version used 1.7 years of data; extending to 2.6 years lifted holdout balanced accuracy from 63.0% to 72.0%.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Also: every complete day is treated as a market day, not only Saturdays, and the Day-7 lead time applies per hour rather than to one forecast issue time. Validation recall (90%) fell to 67% on test, so expect fewer catches than validation suggests. Using the JMA forecast model could extend the history to Jan 2021. The app needs scikit-learn 1.6.1 and catboost 1.2.10 to load the saved model. Next steps: collect more seasons, add seasonal and multi-horizon features, calibrate probabilities (for example isotonic or Platt scaling on validation), and replace the illustrative costs with real figures from organisers.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Holdout, 143 days: 22 of 33 unsuitable days caught versus 15 for the forecast rule; false alarms 25 versus 15. Break-even ratio 10 / 7 = 1.43. Balanced accuracy 72.0% vs 65.9%, ROC-AUC 0.797. Under 3:1 costs the model is 16% cheaper than the rule, under 5:1 24% cheaper. Close by inviting organisers to supply real cost figures.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E2933"/>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841"/>
            <a:ext cx="10566400" cy="4145359"/>
          </a:xfrm>
          <a:prstGeom prst="rect">
            <a:avLst/>
          </a:prstGeom>
          <a:noFill/>
          <a:ln/>
        </p:spPr>
        <p:txBody>
          <a:bodyPr wrap="square" lIns="0" tIns="0" rIns="0" bIns="0" rtlCol="0" anchor="t"/>
          <a:lstStyle>
            <a:lvl1pPr marL="0" indent="0" algn="l">
              <a:lnSpc>
                <a:spcPct val="140000"/>
              </a:lnSpc>
              <a:buNone/>
              <a:defRPr lang="en-US" sz="1600" dirty="0">
                <a:solidFill>
                  <a:srgbClr val="1E2933"/>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E2933"/>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841"/>
            <a:ext cx="10566400" cy="4145359"/>
          </a:xfrm>
          <a:prstGeom prst="rect">
            <a:avLst/>
          </a:prstGeom>
          <a:noFill/>
          <a:ln/>
        </p:spPr>
        <p:txBody>
          <a:bodyPr wrap="square" lIns="0" tIns="0" rIns="0" bIns="0" rtlCol="0" anchor="t"/>
          <a:lstStyle>
            <a:lvl1pPr marL="0" indent="0" algn="l">
              <a:lnSpc>
                <a:spcPct val="140000"/>
              </a:lnSpc>
              <a:buNone/>
              <a:defRPr lang="en-US" sz="1600" dirty="0">
                <a:solidFill>
                  <a:srgbClr val="1E2933"/>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E9A867"/>
                </a:solidFill>
                <a:latin typeface="Arial" pitchFamily="34" charset="0"/>
                <a:ea typeface="Arial" pitchFamily="34" charset="-122"/>
                <a:cs typeface="Arial" pitchFamily="34" charset="-120"/>
              </a:rPr>
              <a:t>PALMERSTON NORTH SATURDAY MARKET</a:t>
            </a:r>
            <a:endParaRPr lang="en-US" sz="1400" dirty="0"/>
          </a:p>
        </p:txBody>
      </p:sp>
      <p:sp>
        <p:nvSpPr>
          <p:cNvPr id="3" name="Text 1"/>
          <p:cNvSpPr>
            <a:spLocks noGrp="1"/>
          </p:cNvSpPr>
          <p:nvPr>
            <p:ph type="title"/>
          </p:nvPr>
        </p:nvSpPr>
        <p:spPr>
          <a:xfrm>
            <a:off x="812800" y="2324100"/>
            <a:ext cx="981075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4EE"/>
                </a:solidFill>
                <a:latin typeface="Georgia" pitchFamily="18" charset="0"/>
                <a:ea typeface="Georgia" pitchFamily="18" charset="-122"/>
                <a:cs typeface="Georgia" pitchFamily="18" charset="-120"/>
              </a:rPr>
              <a:t>Will a market day be rained or blown out?</a:t>
            </a:r>
            <a:endParaRPr lang="en-US" sz="6000" dirty="0"/>
          </a:p>
        </p:txBody>
      </p:sp>
      <p:sp>
        <p:nvSpPr>
          <p:cNvPr id="4" name="Text 2"/>
          <p:cNvSpPr/>
          <p:nvPr/>
        </p:nvSpPr>
        <p:spPr>
          <a:xfrm>
            <a:off x="812800" y="4178299"/>
            <a:ext cx="5926959" cy="1008459"/>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DB"/>
                </a:solidFill>
                <a:latin typeface="Arial" pitchFamily="34" charset="0"/>
                <a:ea typeface="Arial" pitchFamily="34" charset="-122"/>
                <a:cs typeface="Arial" pitchFamily="34" charset="-120"/>
              </a:rPr>
              <a:t>A 7 Day weather forecast decision support model for market organisers in Palmerston North</a:t>
            </a:r>
            <a:endParaRPr lang="en-US" sz="2000" dirty="0"/>
          </a:p>
        </p:txBody>
      </p:sp>
      <p:sp>
        <p:nvSpPr>
          <p:cNvPr id="5" name="Text 3"/>
          <p:cNvSpPr/>
          <p:nvPr/>
        </p:nvSpPr>
        <p:spPr>
          <a:xfrm>
            <a:off x="812800" y="5796359"/>
            <a:ext cx="529639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DB"/>
                </a:solidFill>
                <a:latin typeface="Arial" pitchFamily="34" charset="0"/>
                <a:ea typeface="Arial" pitchFamily="34" charset="-122"/>
                <a:cs typeface="Arial" pitchFamily="34" charset="-120"/>
              </a:rPr>
              <a:t>Open-Meteo forecasts and observations, Jan 2024 to Aug 2026</a:t>
            </a:r>
            <a:endParaRPr lang="en-US" sz="1400" dirty="0"/>
          </a:p>
        </p:txBody>
      </p:sp>
      <p:sp>
        <p:nvSpPr>
          <p:cNvPr id="6" name="Text 4"/>
          <p:cNvSpPr/>
          <p:nvPr/>
        </p:nvSpPr>
        <p:spPr>
          <a:xfrm>
            <a:off x="6109196" y="5796359"/>
            <a:ext cx="2348508" cy="274241"/>
          </a:xfrm>
          <a:prstGeom prst="rect">
            <a:avLst/>
          </a:prstGeom>
          <a:noFill/>
          <a:ln/>
        </p:spPr>
        <p:txBody>
          <a:bodyPr wrap="square" lIns="0" tIns="0" rIns="0" bIns="0" rtlCol="0" anchor="t">
            <a:normAutofit fontScale="70000" lnSpcReduction="20000"/>
          </a:bodyPr>
          <a:lstStyle/>
          <a:p>
            <a:pPr marL="0" indent="0" algn="l">
              <a:lnSpc>
                <a:spcPts val="1960"/>
              </a:lnSpc>
              <a:buNone/>
            </a:pPr>
            <a:r>
              <a:rPr lang="en-US" sz="1400" dirty="0">
                <a:solidFill>
                  <a:srgbClr val="C9D3DB"/>
                </a:solidFill>
                <a:latin typeface="Arial" pitchFamily="34" charset="0"/>
                <a:ea typeface="Arial" pitchFamily="34" charset="-122"/>
                <a:cs typeface="Arial" pitchFamily="34" charset="-120"/>
              </a:rPr>
              <a:t>Model Chosen: </a:t>
            </a:r>
            <a:r>
              <a:rPr lang="en-US" sz="1400" dirty="0" err="1">
                <a:solidFill>
                  <a:srgbClr val="C9D3DB"/>
                </a:solidFill>
                <a:latin typeface="Arial" pitchFamily="34" charset="0"/>
                <a:ea typeface="Arial" pitchFamily="34" charset="-122"/>
                <a:cs typeface="Arial" pitchFamily="34" charset="-120"/>
              </a:rPr>
              <a:t>CatBoost</a:t>
            </a:r>
            <a:r>
              <a:rPr lang="en-US" sz="1400" dirty="0">
                <a:solidFill>
                  <a:srgbClr val="C9D3DB"/>
                </a:solidFill>
                <a:latin typeface="Arial" pitchFamily="34" charset="0"/>
                <a:ea typeface="Arial" pitchFamily="34" charset="-122"/>
                <a:cs typeface="Arial" pitchFamily="34" charset="-120"/>
              </a:rPr>
              <a:t>, threshold 0.37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THE DECISION</a:t>
            </a:r>
            <a:endParaRPr lang="en-US" sz="1200" dirty="0"/>
          </a:p>
        </p:txBody>
      </p:sp>
      <p:sp>
        <p:nvSpPr>
          <p:cNvPr id="3" name="Text 1"/>
          <p:cNvSpPr>
            <a:spLocks noGrp="1"/>
          </p:cNvSpPr>
          <p:nvPr>
            <p:ph type="title"/>
          </p:nvPr>
        </p:nvSpPr>
        <p:spPr>
          <a:xfrm>
            <a:off x="812800" y="1127720"/>
            <a:ext cx="10464800"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Seven days out, organisers must choose how to prepare</a:t>
            </a:r>
            <a:endParaRPr lang="en-US" sz="3200" dirty="0"/>
          </a:p>
        </p:txBody>
      </p:sp>
      <p:sp>
        <p:nvSpPr>
          <p:cNvPr id="4" name="Text 2"/>
          <p:cNvSpPr/>
          <p:nvPr/>
        </p:nvSpPr>
        <p:spPr>
          <a:xfrm>
            <a:off x="812800" y="2417961"/>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Arial" pitchFamily="34" charset="0"/>
                <a:ea typeface="Arial" pitchFamily="34" charset="-122"/>
                <a:cs typeface="Arial" pitchFamily="34" charset="-120"/>
              </a:rPr>
              <a:t>Using only forecasts available about seven days ahead, predict whether the 10 am to 4 pm market window will be unsuitable.</a:t>
            </a:r>
            <a:endParaRPr lang="en-US" sz="1600" dirty="0"/>
          </a:p>
        </p:txBody>
      </p:sp>
      <p:sp>
        <p:nvSpPr>
          <p:cNvPr id="5" name="Shape 3"/>
          <p:cNvSpPr/>
          <p:nvPr/>
        </p:nvSpPr>
        <p:spPr>
          <a:xfrm>
            <a:off x="815975" y="3345656"/>
            <a:ext cx="3380284" cy="1733352"/>
          </a:xfrm>
          <a:prstGeom prst="roundRect">
            <a:avLst>
              <a:gd name="adj" fmla="val 5678"/>
            </a:avLst>
          </a:prstGeom>
          <a:solidFill>
            <a:srgbClr val="FFFFFF"/>
          </a:solidFill>
          <a:ln w="6350">
            <a:solidFill>
              <a:srgbClr val="D9DEE2"/>
            </a:solidFill>
            <a:prstDash val="solid"/>
          </a:ln>
        </p:spPr>
        <p:txBody>
          <a:bodyPr/>
          <a:lstStyle/>
          <a:p>
            <a:endParaRPr lang="en-NZ"/>
          </a:p>
        </p:txBody>
      </p:sp>
      <p:sp>
        <p:nvSpPr>
          <p:cNvPr id="6" name="Text 4"/>
          <p:cNvSpPr/>
          <p:nvPr/>
        </p:nvSpPr>
        <p:spPr>
          <a:xfrm>
            <a:off x="1073150" y="3602831"/>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DB5"/>
                </a:solidFill>
                <a:latin typeface="Arial" pitchFamily="34" charset="0"/>
                <a:ea typeface="Arial" pitchFamily="34" charset="-122"/>
                <a:cs typeface="Arial" pitchFamily="34" charset="-120"/>
              </a:rPr>
              <a:t>LOW RISK</a:t>
            </a:r>
            <a:endParaRPr lang="en-US" sz="1200" dirty="0"/>
          </a:p>
        </p:txBody>
      </p:sp>
      <p:sp>
        <p:nvSpPr>
          <p:cNvPr id="7" name="Text 5"/>
          <p:cNvSpPr/>
          <p:nvPr/>
        </p:nvSpPr>
        <p:spPr>
          <a:xfrm>
            <a:off x="1073150" y="3917752"/>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933"/>
                </a:solidFill>
                <a:latin typeface="Arial" pitchFamily="34" charset="0"/>
                <a:ea typeface="Arial" pitchFamily="34" charset="-122"/>
                <a:cs typeface="Arial" pitchFamily="34" charset="-120"/>
              </a:rPr>
              <a:t>Proceed</a:t>
            </a:r>
            <a:endParaRPr lang="en-US" sz="2000" dirty="0"/>
          </a:p>
        </p:txBody>
      </p:sp>
      <p:sp>
        <p:nvSpPr>
          <p:cNvPr id="8" name="Text 6"/>
          <p:cNvSpPr/>
          <p:nvPr/>
        </p:nvSpPr>
        <p:spPr>
          <a:xfrm>
            <a:off x="1073150" y="4324152"/>
            <a:ext cx="295191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Arial" pitchFamily="34" charset="0"/>
                <a:ea typeface="Arial" pitchFamily="34" charset="-122"/>
                <a:cs typeface="Arial" pitchFamily="34" charset="-120"/>
              </a:rPr>
              <a:t>Normal preparations go ahead.</a:t>
            </a:r>
            <a:endParaRPr lang="en-US" sz="1400" dirty="0"/>
          </a:p>
        </p:txBody>
      </p:sp>
      <p:sp>
        <p:nvSpPr>
          <p:cNvPr id="9" name="Shape 7"/>
          <p:cNvSpPr/>
          <p:nvPr/>
        </p:nvSpPr>
        <p:spPr>
          <a:xfrm>
            <a:off x="4405809" y="3345656"/>
            <a:ext cx="3380383" cy="1733352"/>
          </a:xfrm>
          <a:prstGeom prst="roundRect">
            <a:avLst>
              <a:gd name="adj" fmla="val 5678"/>
            </a:avLst>
          </a:prstGeom>
          <a:solidFill>
            <a:srgbClr val="FFFFFF"/>
          </a:solidFill>
          <a:ln w="6350">
            <a:solidFill>
              <a:srgbClr val="D9DEE2"/>
            </a:solidFill>
            <a:prstDash val="solid"/>
          </a:ln>
        </p:spPr>
        <p:txBody>
          <a:bodyPr/>
          <a:lstStyle/>
          <a:p>
            <a:endParaRPr lang="en-NZ"/>
          </a:p>
        </p:txBody>
      </p:sp>
      <p:sp>
        <p:nvSpPr>
          <p:cNvPr id="10" name="Text 8"/>
          <p:cNvSpPr/>
          <p:nvPr/>
        </p:nvSpPr>
        <p:spPr>
          <a:xfrm>
            <a:off x="4662984" y="3602831"/>
            <a:ext cx="295201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A5A12"/>
                </a:solidFill>
                <a:latin typeface="Arial" pitchFamily="34" charset="0"/>
                <a:ea typeface="Arial" pitchFamily="34" charset="-122"/>
                <a:cs typeface="Arial" pitchFamily="34" charset="-120"/>
              </a:rPr>
              <a:t>ELEVATED RISK</a:t>
            </a:r>
            <a:endParaRPr lang="en-US" sz="1200" dirty="0"/>
          </a:p>
        </p:txBody>
      </p:sp>
      <p:sp>
        <p:nvSpPr>
          <p:cNvPr id="11" name="Text 9"/>
          <p:cNvSpPr/>
          <p:nvPr/>
        </p:nvSpPr>
        <p:spPr>
          <a:xfrm>
            <a:off x="4662984" y="3917752"/>
            <a:ext cx="295201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933"/>
                </a:solidFill>
                <a:latin typeface="Arial" pitchFamily="34" charset="0"/>
                <a:ea typeface="Arial" pitchFamily="34" charset="-122"/>
                <a:cs typeface="Arial" pitchFamily="34" charset="-120"/>
              </a:rPr>
              <a:t>Monitor</a:t>
            </a:r>
            <a:endParaRPr lang="en-US" sz="2000" dirty="0"/>
          </a:p>
        </p:txBody>
      </p:sp>
      <p:sp>
        <p:nvSpPr>
          <p:cNvPr id="12" name="Text 10"/>
          <p:cNvSpPr/>
          <p:nvPr/>
        </p:nvSpPr>
        <p:spPr>
          <a:xfrm>
            <a:off x="4662984" y="4324152"/>
            <a:ext cx="295201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Arial" pitchFamily="34" charset="0"/>
                <a:ea typeface="Arial" pitchFamily="34" charset="-122"/>
                <a:cs typeface="Arial" pitchFamily="34" charset="-120"/>
              </a:rPr>
              <a:t>Watch updated forecasts and prepare contingencies.</a:t>
            </a:r>
            <a:endParaRPr lang="en-US" sz="1400" dirty="0"/>
          </a:p>
        </p:txBody>
      </p:sp>
      <p:sp>
        <p:nvSpPr>
          <p:cNvPr id="13" name="Shape 11"/>
          <p:cNvSpPr/>
          <p:nvPr/>
        </p:nvSpPr>
        <p:spPr>
          <a:xfrm>
            <a:off x="7995741" y="3345656"/>
            <a:ext cx="3380284" cy="1733352"/>
          </a:xfrm>
          <a:prstGeom prst="roundRect">
            <a:avLst>
              <a:gd name="adj" fmla="val 5678"/>
            </a:avLst>
          </a:prstGeom>
          <a:solidFill>
            <a:srgbClr val="FFFFFF"/>
          </a:solidFill>
          <a:ln w="6350">
            <a:solidFill>
              <a:srgbClr val="D9DEE2"/>
            </a:solidFill>
            <a:prstDash val="solid"/>
          </a:ln>
        </p:spPr>
        <p:txBody>
          <a:bodyPr/>
          <a:lstStyle/>
          <a:p>
            <a:endParaRPr lang="en-NZ"/>
          </a:p>
        </p:txBody>
      </p:sp>
      <p:sp>
        <p:nvSpPr>
          <p:cNvPr id="14" name="Text 12"/>
          <p:cNvSpPr/>
          <p:nvPr/>
        </p:nvSpPr>
        <p:spPr>
          <a:xfrm>
            <a:off x="8252916" y="3602831"/>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0501A"/>
                </a:solidFill>
                <a:latin typeface="Arial" pitchFamily="34" charset="0"/>
                <a:ea typeface="Arial" pitchFamily="34" charset="-122"/>
                <a:cs typeface="Arial" pitchFamily="34" charset="-120"/>
              </a:rPr>
              <a:t>HIGH RISK</a:t>
            </a:r>
            <a:endParaRPr lang="en-US" sz="1200" dirty="0"/>
          </a:p>
        </p:txBody>
      </p:sp>
      <p:sp>
        <p:nvSpPr>
          <p:cNvPr id="15" name="Text 13"/>
          <p:cNvSpPr/>
          <p:nvPr/>
        </p:nvSpPr>
        <p:spPr>
          <a:xfrm>
            <a:off x="8252916" y="3917752"/>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933"/>
                </a:solidFill>
                <a:latin typeface="Arial" pitchFamily="34" charset="0"/>
                <a:ea typeface="Arial" pitchFamily="34" charset="-122"/>
                <a:cs typeface="Arial" pitchFamily="34" charset="-120"/>
              </a:rPr>
              <a:t>Relocate or cancel</a:t>
            </a:r>
            <a:endParaRPr lang="en-US" sz="2000" dirty="0"/>
          </a:p>
        </p:txBody>
      </p:sp>
      <p:sp>
        <p:nvSpPr>
          <p:cNvPr id="16" name="Text 14"/>
          <p:cNvSpPr/>
          <p:nvPr/>
        </p:nvSpPr>
        <p:spPr>
          <a:xfrm>
            <a:off x="8252916" y="4324152"/>
            <a:ext cx="295191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Arial" pitchFamily="34" charset="0"/>
                <a:ea typeface="Arial" pitchFamily="34" charset="-122"/>
                <a:cs typeface="Arial" pitchFamily="34" charset="-120"/>
              </a:rPr>
              <a:t>Considered only when risk is high enough.</a:t>
            </a:r>
            <a:endParaRPr lang="en-US" sz="1400" dirty="0"/>
          </a:p>
        </p:txBody>
      </p:sp>
      <p:sp>
        <p:nvSpPr>
          <p:cNvPr id="17" name="Text 15"/>
          <p:cNvSpPr/>
          <p:nvPr/>
        </p:nvSpPr>
        <p:spPr>
          <a:xfrm>
            <a:off x="812800" y="5437783"/>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Arial" pitchFamily="34" charset="0"/>
                <a:ea typeface="Arial" pitchFamily="34" charset="-122"/>
                <a:cs typeface="Arial" pitchFamily="34" charset="-120"/>
              </a:rPr>
              <a:t>The model supports the </a:t>
            </a:r>
            <a:r>
              <a:rPr lang="en-US" sz="1400" dirty="0" err="1">
                <a:solidFill>
                  <a:srgbClr val="4A5563"/>
                </a:solidFill>
                <a:latin typeface="Arial" pitchFamily="34" charset="0"/>
                <a:ea typeface="Arial" pitchFamily="34" charset="-122"/>
                <a:cs typeface="Arial" pitchFamily="34" charset="-120"/>
              </a:rPr>
              <a:t>organiser's</a:t>
            </a:r>
            <a:r>
              <a:rPr lang="en-US" sz="1400" dirty="0">
                <a:solidFill>
                  <a:srgbClr val="4A5563"/>
                </a:solidFill>
                <a:latin typeface="Arial" pitchFamily="34" charset="0"/>
                <a:ea typeface="Arial" pitchFamily="34" charset="-122"/>
                <a:cs typeface="Arial" pitchFamily="34" charset="-120"/>
              </a:rPr>
              <a:t> call, it does not cancel the market.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6339"/>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2F6DB5"/>
                </a:solidFill>
                <a:latin typeface="Arial" pitchFamily="34" charset="0"/>
                <a:ea typeface="Arial" pitchFamily="34" charset="-122"/>
                <a:cs typeface="Arial" pitchFamily="34" charset="-120"/>
              </a:rPr>
              <a:t>DECISION CONSEQUENCES</a:t>
            </a:r>
            <a:endParaRPr lang="en-US" sz="1196" dirty="0"/>
          </a:p>
        </p:txBody>
      </p:sp>
      <p:sp>
        <p:nvSpPr>
          <p:cNvPr id="3" name="Text 1"/>
          <p:cNvSpPr>
            <a:spLocks noGrp="1"/>
          </p:cNvSpPr>
          <p:nvPr>
            <p:ph type="title"/>
          </p:nvPr>
        </p:nvSpPr>
        <p:spPr>
          <a:xfrm>
            <a:off x="812800" y="1125339"/>
            <a:ext cx="10883392" cy="487561"/>
          </a:xfrm>
          <a:prstGeom prst="rect">
            <a:avLst/>
          </a:prstGeom>
          <a:noFill/>
          <a:ln/>
        </p:spPr>
        <p:txBody>
          <a:bodyPr wrap="square" lIns="0" tIns="0" rIns="0" bIns="0" rtlCol="0" anchor="t">
            <a:normAutofit/>
          </a:bodyPr>
          <a:lstStyle/>
          <a:p>
            <a:pPr marL="0" indent="0" algn="l">
              <a:lnSpc>
                <a:spcPts val="3668"/>
              </a:lnSpc>
              <a:buNone/>
            </a:pPr>
            <a:r>
              <a:rPr lang="en-US" sz="3190" b="1" i="0" dirty="0">
                <a:solidFill>
                  <a:srgbClr val="1E2933"/>
                </a:solidFill>
                <a:latin typeface="Georgia" pitchFamily="18" charset="0"/>
                <a:ea typeface="Georgia" pitchFamily="18" charset="-122"/>
                <a:cs typeface="Georgia" pitchFamily="18" charset="-120"/>
              </a:rPr>
              <a:t>The two error</a:t>
            </a:r>
            <a:r>
              <a:rPr lang="en-US" sz="3190" b="1" dirty="0">
                <a:latin typeface="Georgia" pitchFamily="18" charset="0"/>
                <a:ea typeface="Georgia" pitchFamily="18" charset="-122"/>
                <a:cs typeface="Georgia" pitchFamily="18" charset="-120"/>
              </a:rPr>
              <a:t> types</a:t>
            </a:r>
            <a:r>
              <a:rPr lang="en-US" sz="3190" b="1" i="0" dirty="0">
                <a:solidFill>
                  <a:srgbClr val="1E2933"/>
                </a:solidFill>
                <a:latin typeface="Georgia" pitchFamily="18" charset="0"/>
                <a:ea typeface="Georgia" pitchFamily="18" charset="-122"/>
                <a:cs typeface="Georgia" pitchFamily="18" charset="-120"/>
              </a:rPr>
              <a:t> do not cost the same.</a:t>
            </a:r>
            <a:endParaRPr lang="en-US" sz="3190" dirty="0"/>
          </a:p>
        </p:txBody>
      </p:sp>
      <p:sp>
        <p:nvSpPr>
          <p:cNvPr id="4" name="Text 2"/>
          <p:cNvSpPr/>
          <p:nvPr/>
        </p:nvSpPr>
        <p:spPr>
          <a:xfrm>
            <a:off x="965200" y="1987550"/>
            <a:ext cx="1779016" cy="5790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3"/>
                </a:solidFill>
                <a:latin typeface="Arial" pitchFamily="34" charset="0"/>
                <a:ea typeface="Arial" pitchFamily="34" charset="-122"/>
                <a:cs typeface="Arial" pitchFamily="34" charset="-120"/>
              </a:rPr>
              <a:t>Actually suitable</a:t>
            </a:r>
            <a:endParaRPr lang="en-US" sz="1400" dirty="0"/>
          </a:p>
        </p:txBody>
      </p:sp>
      <p:sp>
        <p:nvSpPr>
          <p:cNvPr id="5" name="Text 3"/>
          <p:cNvSpPr/>
          <p:nvPr/>
        </p:nvSpPr>
        <p:spPr>
          <a:xfrm>
            <a:off x="3098800" y="1987550"/>
            <a:ext cx="3976624" cy="5790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3"/>
                </a:solidFill>
                <a:latin typeface="Arial" pitchFamily="34" charset="0"/>
                <a:ea typeface="Arial" pitchFamily="34" charset="-122"/>
                <a:cs typeface="Arial" pitchFamily="34" charset="-120"/>
              </a:rPr>
              <a:t>Actually unsuitable</a:t>
            </a:r>
            <a:endParaRPr lang="en-US" sz="1400" dirty="0"/>
          </a:p>
        </p:txBody>
      </p:sp>
      <p:sp>
        <p:nvSpPr>
          <p:cNvPr id="6" name="Text 4"/>
          <p:cNvSpPr/>
          <p:nvPr/>
        </p:nvSpPr>
        <p:spPr>
          <a:xfrm>
            <a:off x="7213600" y="2909491"/>
            <a:ext cx="429056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3"/>
                </a:solidFill>
                <a:latin typeface="Arial" pitchFamily="34" charset="0"/>
                <a:ea typeface="Arial" pitchFamily="34" charset="-122"/>
                <a:cs typeface="Arial" pitchFamily="34" charset="-120"/>
              </a:rPr>
              <a:t>Predicted suitable</a:t>
            </a:r>
            <a:endParaRPr lang="en-US" sz="1400" dirty="0"/>
          </a:p>
        </p:txBody>
      </p:sp>
      <p:sp>
        <p:nvSpPr>
          <p:cNvPr id="7" name="Shape 5"/>
          <p:cNvSpPr/>
          <p:nvPr/>
        </p:nvSpPr>
        <p:spPr>
          <a:xfrm>
            <a:off x="815975" y="2696766"/>
            <a:ext cx="2025650" cy="1243112"/>
          </a:xfrm>
          <a:prstGeom prst="roundRect">
            <a:avLst>
              <a:gd name="adj" fmla="val 5874"/>
            </a:avLst>
          </a:prstGeom>
          <a:solidFill>
            <a:srgbClr val="FFFFFF"/>
          </a:solidFill>
          <a:ln w="6350">
            <a:solidFill>
              <a:srgbClr val="D9DEE2"/>
            </a:solidFill>
            <a:prstDash val="solid"/>
          </a:ln>
        </p:spPr>
        <p:txBody>
          <a:bodyPr/>
          <a:lstStyle/>
          <a:p>
            <a:endParaRPr lang="en-NZ"/>
          </a:p>
        </p:txBody>
      </p:sp>
      <p:sp>
        <p:nvSpPr>
          <p:cNvPr id="8" name="Text 6"/>
          <p:cNvSpPr/>
          <p:nvPr/>
        </p:nvSpPr>
        <p:spPr>
          <a:xfrm>
            <a:off x="1022350" y="2903141"/>
            <a:ext cx="1663700" cy="57388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933"/>
                </a:solidFill>
                <a:latin typeface="Arial" pitchFamily="34" charset="0"/>
                <a:ea typeface="Arial" pitchFamily="34" charset="-122"/>
                <a:cs typeface="Arial" pitchFamily="34" charset="-120"/>
              </a:rPr>
              <a:t>Correct decision</a:t>
            </a:r>
            <a:endParaRPr lang="en-US" sz="1800" dirty="0"/>
          </a:p>
        </p:txBody>
      </p:sp>
      <p:sp>
        <p:nvSpPr>
          <p:cNvPr id="9" name="Text 7"/>
          <p:cNvSpPr/>
          <p:nvPr/>
        </p:nvSpPr>
        <p:spPr>
          <a:xfrm>
            <a:off x="1022350" y="3502422"/>
            <a:ext cx="16637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True negative</a:t>
            </a:r>
            <a:endParaRPr lang="en-US" sz="1300" dirty="0"/>
          </a:p>
        </p:txBody>
      </p:sp>
      <p:sp>
        <p:nvSpPr>
          <p:cNvPr id="10" name="Shape 8"/>
          <p:cNvSpPr/>
          <p:nvPr/>
        </p:nvSpPr>
        <p:spPr>
          <a:xfrm>
            <a:off x="2952750" y="2699941"/>
            <a:ext cx="4152900" cy="1236762"/>
          </a:xfrm>
          <a:prstGeom prst="roundRect">
            <a:avLst>
              <a:gd name="adj" fmla="val 5648"/>
            </a:avLst>
          </a:prstGeom>
          <a:solidFill>
            <a:srgbClr val="FBE8D6"/>
          </a:solidFill>
          <a:ln w="12700">
            <a:solidFill>
              <a:srgbClr val="C8681E"/>
            </a:solidFill>
            <a:prstDash val="solid"/>
          </a:ln>
        </p:spPr>
        <p:txBody>
          <a:bodyPr/>
          <a:lstStyle/>
          <a:p>
            <a:endParaRPr lang="en-NZ"/>
          </a:p>
        </p:txBody>
      </p:sp>
      <p:sp>
        <p:nvSpPr>
          <p:cNvPr id="11" name="Text 9"/>
          <p:cNvSpPr/>
          <p:nvPr/>
        </p:nvSpPr>
        <p:spPr>
          <a:xfrm>
            <a:off x="3162300" y="2909491"/>
            <a:ext cx="384581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7A3A0C"/>
                </a:solidFill>
                <a:latin typeface="Arial" pitchFamily="34" charset="0"/>
                <a:ea typeface="Arial" pitchFamily="34" charset="-122"/>
                <a:cs typeface="Arial" pitchFamily="34" charset="-120"/>
              </a:rPr>
              <a:t>Missed warning</a:t>
            </a:r>
            <a:endParaRPr lang="en-US" sz="1800" dirty="0"/>
          </a:p>
        </p:txBody>
      </p:sp>
      <p:sp>
        <p:nvSpPr>
          <p:cNvPr id="12" name="Text 10"/>
          <p:cNvSpPr/>
          <p:nvPr/>
        </p:nvSpPr>
        <p:spPr>
          <a:xfrm>
            <a:off x="3162300" y="3234531"/>
            <a:ext cx="384581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3410"/>
                </a:solidFill>
                <a:latin typeface="Arial" pitchFamily="34" charset="0"/>
                <a:ea typeface="Arial" pitchFamily="34" charset="-122"/>
                <a:cs typeface="Arial" pitchFamily="34" charset="-120"/>
              </a:rPr>
              <a:t>False negative: costly, resources already committed</a:t>
            </a:r>
            <a:endParaRPr lang="en-US" sz="1300" dirty="0"/>
          </a:p>
        </p:txBody>
      </p:sp>
      <p:sp>
        <p:nvSpPr>
          <p:cNvPr id="13" name="Text 11"/>
          <p:cNvSpPr/>
          <p:nvPr/>
        </p:nvSpPr>
        <p:spPr>
          <a:xfrm>
            <a:off x="7213600" y="4266653"/>
            <a:ext cx="429056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5563"/>
                </a:solidFill>
                <a:latin typeface="Arial" pitchFamily="34" charset="0"/>
                <a:ea typeface="Arial" pitchFamily="34" charset="-122"/>
                <a:cs typeface="Arial" pitchFamily="34" charset="-120"/>
              </a:rPr>
              <a:t>Predicted unsuitable</a:t>
            </a:r>
            <a:endParaRPr lang="en-US" sz="1400" dirty="0"/>
          </a:p>
        </p:txBody>
      </p:sp>
      <p:sp>
        <p:nvSpPr>
          <p:cNvPr id="14" name="Shape 12"/>
          <p:cNvSpPr/>
          <p:nvPr/>
        </p:nvSpPr>
        <p:spPr>
          <a:xfrm>
            <a:off x="819150" y="4051002"/>
            <a:ext cx="2019300" cy="1390948"/>
          </a:xfrm>
          <a:prstGeom prst="roundRect">
            <a:avLst>
              <a:gd name="adj" fmla="val 5022"/>
            </a:avLst>
          </a:prstGeom>
          <a:solidFill>
            <a:srgbClr val="E3ECF7"/>
          </a:solidFill>
          <a:ln w="12700">
            <a:solidFill>
              <a:srgbClr val="2F6DB5"/>
            </a:solidFill>
            <a:prstDash val="solid"/>
          </a:ln>
        </p:spPr>
        <p:txBody>
          <a:bodyPr/>
          <a:lstStyle/>
          <a:p>
            <a:endParaRPr lang="en-NZ"/>
          </a:p>
        </p:txBody>
      </p:sp>
      <p:sp>
        <p:nvSpPr>
          <p:cNvPr id="15" name="Text 13"/>
          <p:cNvSpPr/>
          <p:nvPr/>
        </p:nvSpPr>
        <p:spPr>
          <a:xfrm>
            <a:off x="1028700" y="4260552"/>
            <a:ext cx="1651000" cy="286445"/>
          </a:xfrm>
          <a:prstGeom prst="rect">
            <a:avLst/>
          </a:prstGeom>
          <a:noFill/>
          <a:ln/>
        </p:spPr>
        <p:txBody>
          <a:bodyPr wrap="square" lIns="0" tIns="0" rIns="0" bIns="0" rtlCol="0" anchor="t">
            <a:normAutofit/>
          </a:bodyPr>
          <a:lstStyle/>
          <a:p>
            <a:pPr marL="0" indent="0" algn="l">
              <a:lnSpc>
                <a:spcPts val="2072"/>
              </a:lnSpc>
              <a:buNone/>
            </a:pPr>
            <a:r>
              <a:rPr lang="en-US" sz="1727" b="1" dirty="0">
                <a:solidFill>
                  <a:srgbClr val="1D4A80"/>
                </a:solidFill>
                <a:latin typeface="Arial" pitchFamily="34" charset="0"/>
                <a:ea typeface="Arial" pitchFamily="34" charset="-122"/>
                <a:cs typeface="Arial" pitchFamily="34" charset="-120"/>
              </a:rPr>
              <a:t>False alarm</a:t>
            </a:r>
            <a:endParaRPr lang="en-US" sz="1727" dirty="0"/>
          </a:p>
        </p:txBody>
      </p:sp>
      <p:sp>
        <p:nvSpPr>
          <p:cNvPr id="16" name="Text 14"/>
          <p:cNvSpPr/>
          <p:nvPr/>
        </p:nvSpPr>
        <p:spPr>
          <a:xfrm>
            <a:off x="1028700" y="4572397"/>
            <a:ext cx="1651000" cy="685403"/>
          </a:xfrm>
          <a:prstGeom prst="rect">
            <a:avLst/>
          </a:prstGeom>
          <a:noFill/>
          <a:ln/>
        </p:spPr>
        <p:txBody>
          <a:bodyPr wrap="square" lIns="0" tIns="0" rIns="0" bIns="0" rtlCol="0" anchor="t">
            <a:normAutofit/>
          </a:bodyPr>
          <a:lstStyle/>
          <a:p>
            <a:pPr marL="0" indent="0" algn="l">
              <a:lnSpc>
                <a:spcPts val="1740"/>
              </a:lnSpc>
              <a:buNone/>
            </a:pPr>
            <a:r>
              <a:rPr lang="en-US" sz="1243" dirty="0">
                <a:solidFill>
                  <a:srgbClr val="28466B"/>
                </a:solidFill>
                <a:latin typeface="Arial" pitchFamily="34" charset="0"/>
                <a:ea typeface="Arial" pitchFamily="34" charset="-122"/>
                <a:cs typeface="Arial" pitchFamily="34" charset="-120"/>
              </a:rPr>
              <a:t>False positive: unnecessary disruption</a:t>
            </a:r>
            <a:endParaRPr lang="en-US" sz="1243" dirty="0"/>
          </a:p>
        </p:txBody>
      </p:sp>
      <p:sp>
        <p:nvSpPr>
          <p:cNvPr id="17" name="Shape 15"/>
          <p:cNvSpPr/>
          <p:nvPr/>
        </p:nvSpPr>
        <p:spPr>
          <a:xfrm>
            <a:off x="2949575" y="4047827"/>
            <a:ext cx="4159250" cy="1397298"/>
          </a:xfrm>
          <a:prstGeom prst="roundRect">
            <a:avLst>
              <a:gd name="adj" fmla="val 5226"/>
            </a:avLst>
          </a:prstGeom>
          <a:solidFill>
            <a:srgbClr val="FFFFFF"/>
          </a:solidFill>
          <a:ln w="6350">
            <a:solidFill>
              <a:srgbClr val="D9DEE2"/>
            </a:solidFill>
            <a:prstDash val="solid"/>
          </a:ln>
        </p:spPr>
        <p:txBody>
          <a:bodyPr/>
          <a:lstStyle/>
          <a:p>
            <a:endParaRPr lang="en-NZ"/>
          </a:p>
        </p:txBody>
      </p:sp>
      <p:sp>
        <p:nvSpPr>
          <p:cNvPr id="18" name="Text 16"/>
          <p:cNvSpPr/>
          <p:nvPr/>
        </p:nvSpPr>
        <p:spPr>
          <a:xfrm>
            <a:off x="3155950" y="4254202"/>
            <a:ext cx="385889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933"/>
                </a:solidFill>
                <a:latin typeface="Arial" pitchFamily="34" charset="0"/>
                <a:ea typeface="Arial" pitchFamily="34" charset="-122"/>
                <a:cs typeface="Arial" pitchFamily="34" charset="-120"/>
              </a:rPr>
              <a:t>Correct warning</a:t>
            </a:r>
            <a:endParaRPr lang="en-US" sz="1800" dirty="0"/>
          </a:p>
        </p:txBody>
      </p:sp>
      <p:sp>
        <p:nvSpPr>
          <p:cNvPr id="19" name="Text 17"/>
          <p:cNvSpPr/>
          <p:nvPr/>
        </p:nvSpPr>
        <p:spPr>
          <a:xfrm>
            <a:off x="3155950" y="4579243"/>
            <a:ext cx="385889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True positive</a:t>
            </a:r>
            <a:endParaRPr lang="en-US" sz="1300" dirty="0"/>
          </a:p>
        </p:txBody>
      </p:sp>
      <p:sp>
        <p:nvSpPr>
          <p:cNvPr id="20" name="Text 18"/>
          <p:cNvSpPr/>
          <p:nvPr/>
        </p:nvSpPr>
        <p:spPr>
          <a:xfrm>
            <a:off x="812800" y="579755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Arial" pitchFamily="34" charset="0"/>
                <a:ea typeface="Arial" pitchFamily="34" charset="-122"/>
                <a:cs typeface="Arial" pitchFamily="34" charset="-120"/>
              </a:rPr>
              <a:t>So models are judged on recall, missed days and false alarms, not accuracy alone.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D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DATA</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Two hourly sources</a:t>
            </a:r>
            <a:endParaRPr lang="en-US" sz="3200" dirty="0"/>
          </a:p>
        </p:txBody>
      </p:sp>
      <p:sp>
        <p:nvSpPr>
          <p:cNvPr id="4" name="Shape 2"/>
          <p:cNvSpPr/>
          <p:nvPr/>
        </p:nvSpPr>
        <p:spPr>
          <a:xfrm>
            <a:off x="812800" y="1950641"/>
            <a:ext cx="3420467" cy="1511102"/>
          </a:xfrm>
          <a:prstGeom prst="roundRect">
            <a:avLst>
              <a:gd name="adj" fmla="val 6724"/>
            </a:avLst>
          </a:prstGeom>
          <a:solidFill>
            <a:srgbClr val="FFFFFF"/>
          </a:solidFill>
          <a:ln/>
        </p:spPr>
        <p:txBody>
          <a:bodyPr/>
          <a:lstStyle/>
          <a:p>
            <a:endParaRPr lang="en-NZ"/>
          </a:p>
        </p:txBody>
      </p:sp>
      <p:sp>
        <p:nvSpPr>
          <p:cNvPr id="5" name="Text 3"/>
          <p:cNvSpPr/>
          <p:nvPr/>
        </p:nvSpPr>
        <p:spPr>
          <a:xfrm>
            <a:off x="1041400" y="2179241"/>
            <a:ext cx="305216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2933"/>
                </a:solidFill>
                <a:latin typeface="Arial" pitchFamily="34" charset="0"/>
                <a:ea typeface="Arial" pitchFamily="34" charset="-122"/>
                <a:cs typeface="Arial" pitchFamily="34" charset="-120"/>
              </a:rPr>
              <a:t>Day-7 forecasts</a:t>
            </a:r>
            <a:endParaRPr lang="en-US" sz="1700" dirty="0"/>
          </a:p>
        </p:txBody>
      </p:sp>
      <p:sp>
        <p:nvSpPr>
          <p:cNvPr id="6" name="Text 4"/>
          <p:cNvSpPr/>
          <p:nvPr/>
        </p:nvSpPr>
        <p:spPr>
          <a:xfrm>
            <a:off x="1041400" y="2539901"/>
            <a:ext cx="3052165"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Open-Meteo Previous Runs API: precipitation and 10 m wind, forecast seven days ahead</a:t>
            </a:r>
            <a:endParaRPr lang="en-US" sz="1300" dirty="0"/>
          </a:p>
        </p:txBody>
      </p:sp>
      <p:sp>
        <p:nvSpPr>
          <p:cNvPr id="7" name="Shape 5"/>
          <p:cNvSpPr/>
          <p:nvPr/>
        </p:nvSpPr>
        <p:spPr>
          <a:xfrm>
            <a:off x="4385667" y="1950641"/>
            <a:ext cx="3420566" cy="1511102"/>
          </a:xfrm>
          <a:prstGeom prst="roundRect">
            <a:avLst>
              <a:gd name="adj" fmla="val 6724"/>
            </a:avLst>
          </a:prstGeom>
          <a:solidFill>
            <a:srgbClr val="FFFFFF"/>
          </a:solidFill>
          <a:ln/>
        </p:spPr>
        <p:txBody>
          <a:bodyPr/>
          <a:lstStyle/>
          <a:p>
            <a:endParaRPr lang="en-NZ"/>
          </a:p>
        </p:txBody>
      </p:sp>
      <p:sp>
        <p:nvSpPr>
          <p:cNvPr id="8" name="Text 6"/>
          <p:cNvSpPr/>
          <p:nvPr/>
        </p:nvSpPr>
        <p:spPr>
          <a:xfrm>
            <a:off x="4614267" y="2179241"/>
            <a:ext cx="30522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2933"/>
                </a:solidFill>
                <a:latin typeface="Arial" pitchFamily="34" charset="0"/>
                <a:ea typeface="Arial" pitchFamily="34" charset="-122"/>
                <a:cs typeface="Arial" pitchFamily="34" charset="-120"/>
              </a:rPr>
              <a:t>Observed weather</a:t>
            </a:r>
            <a:endParaRPr lang="en-US" sz="1700" dirty="0"/>
          </a:p>
        </p:txBody>
      </p:sp>
      <p:sp>
        <p:nvSpPr>
          <p:cNvPr id="9" name="Text 7"/>
          <p:cNvSpPr/>
          <p:nvPr/>
        </p:nvSpPr>
        <p:spPr>
          <a:xfrm>
            <a:off x="4614267" y="2539901"/>
            <a:ext cx="3052267"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Open-Meteo Historical Weather API: realised precipitation and wind for the same hours</a:t>
            </a:r>
            <a:endParaRPr lang="en-US" sz="1300" dirty="0"/>
          </a:p>
        </p:txBody>
      </p:sp>
      <p:sp>
        <p:nvSpPr>
          <p:cNvPr id="10" name="Shape 8"/>
          <p:cNvSpPr/>
          <p:nvPr/>
        </p:nvSpPr>
        <p:spPr>
          <a:xfrm>
            <a:off x="7958634" y="1950641"/>
            <a:ext cx="3420566" cy="1511102"/>
          </a:xfrm>
          <a:prstGeom prst="roundRect">
            <a:avLst>
              <a:gd name="adj" fmla="val 6724"/>
            </a:avLst>
          </a:prstGeom>
          <a:solidFill>
            <a:srgbClr val="FFFFFF"/>
          </a:solidFill>
          <a:ln/>
        </p:spPr>
        <p:txBody>
          <a:bodyPr/>
          <a:lstStyle/>
          <a:p>
            <a:endParaRPr lang="en-NZ"/>
          </a:p>
        </p:txBody>
      </p:sp>
      <p:sp>
        <p:nvSpPr>
          <p:cNvPr id="11" name="Text 9"/>
          <p:cNvSpPr/>
          <p:nvPr/>
        </p:nvSpPr>
        <p:spPr>
          <a:xfrm>
            <a:off x="8187234" y="2179241"/>
            <a:ext cx="30522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2933"/>
                </a:solidFill>
                <a:latin typeface="Arial" pitchFamily="34" charset="0"/>
                <a:ea typeface="Arial" pitchFamily="34" charset="-122"/>
                <a:cs typeface="Arial" pitchFamily="34" charset="-120"/>
              </a:rPr>
              <a:t>Align and aggregate</a:t>
            </a:r>
            <a:endParaRPr lang="en-US" sz="1700" dirty="0"/>
          </a:p>
        </p:txBody>
      </p:sp>
      <p:sp>
        <p:nvSpPr>
          <p:cNvPr id="12" name="Text 10"/>
          <p:cNvSpPr/>
          <p:nvPr/>
        </p:nvSpPr>
        <p:spPr>
          <a:xfrm>
            <a:off x="8187234" y="2539901"/>
            <a:ext cx="305226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Joined on UTC hour, converted to NZ time, restricted to 10 am to 4 pm</a:t>
            </a:r>
            <a:endParaRPr lang="en-US" sz="1300" dirty="0"/>
          </a:p>
        </p:txBody>
      </p:sp>
      <p:sp>
        <p:nvSpPr>
          <p:cNvPr id="13" name="Text 11"/>
          <p:cNvSpPr/>
          <p:nvPr/>
        </p:nvSpPr>
        <p:spPr>
          <a:xfrm>
            <a:off x="812800" y="3817342"/>
            <a:ext cx="1665784"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4A80"/>
                </a:solidFill>
                <a:latin typeface="Georgia" pitchFamily="18" charset="0"/>
                <a:ea typeface="Georgia" pitchFamily="18" charset="-122"/>
                <a:cs typeface="Georgia" pitchFamily="18" charset="-120"/>
              </a:rPr>
              <a:t>949</a:t>
            </a:r>
            <a:endParaRPr lang="en-US" sz="4800" dirty="0"/>
          </a:p>
        </p:txBody>
      </p:sp>
      <p:sp>
        <p:nvSpPr>
          <p:cNvPr id="14" name="Text 12"/>
          <p:cNvSpPr/>
          <p:nvPr/>
        </p:nvSpPr>
        <p:spPr>
          <a:xfrm>
            <a:off x="812800" y="4513263"/>
            <a:ext cx="193798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complete market days</a:t>
            </a:r>
            <a:endParaRPr lang="en-US" sz="1300" dirty="0"/>
          </a:p>
        </p:txBody>
      </p:sp>
      <p:sp>
        <p:nvSpPr>
          <p:cNvPr id="15" name="Text 13"/>
          <p:cNvSpPr/>
          <p:nvPr/>
        </p:nvSpPr>
        <p:spPr>
          <a:xfrm>
            <a:off x="3037384" y="3817342"/>
            <a:ext cx="2127604"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4A80"/>
                </a:solidFill>
                <a:latin typeface="Georgia" pitchFamily="18" charset="0"/>
                <a:ea typeface="Georgia" pitchFamily="18" charset="-122"/>
                <a:cs typeface="Georgia" pitchFamily="18" charset="-120"/>
              </a:rPr>
              <a:t>31 mo</a:t>
            </a:r>
            <a:endParaRPr lang="en-US" sz="4800" dirty="0"/>
          </a:p>
        </p:txBody>
      </p:sp>
      <p:sp>
        <p:nvSpPr>
          <p:cNvPr id="16" name="Text 14"/>
          <p:cNvSpPr/>
          <p:nvPr/>
        </p:nvSpPr>
        <p:spPr>
          <a:xfrm>
            <a:off x="3037384" y="4513263"/>
            <a:ext cx="247876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26 Jan 2024 to 31 Aug 2026</a:t>
            </a:r>
            <a:endParaRPr lang="en-US" sz="1300" dirty="0"/>
          </a:p>
        </p:txBody>
      </p:sp>
      <p:sp>
        <p:nvSpPr>
          <p:cNvPr id="17" name="Text 15"/>
          <p:cNvSpPr/>
          <p:nvPr/>
        </p:nvSpPr>
        <p:spPr>
          <a:xfrm>
            <a:off x="5712619" y="3817342"/>
            <a:ext cx="3469326"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4A80"/>
                </a:solidFill>
                <a:latin typeface="Georgia" pitchFamily="18" charset="0"/>
                <a:ea typeface="Georgia" pitchFamily="18" charset="-122"/>
                <a:cs typeface="Georgia" pitchFamily="18" charset="-120"/>
              </a:rPr>
              <a:t>6 + 7</a:t>
            </a:r>
            <a:endParaRPr lang="en-US" sz="4800" dirty="0"/>
          </a:p>
        </p:txBody>
      </p:sp>
      <p:sp>
        <p:nvSpPr>
          <p:cNvPr id="18" name="Text 16"/>
          <p:cNvSpPr/>
          <p:nvPr/>
        </p:nvSpPr>
        <p:spPr>
          <a:xfrm>
            <a:off x="5712619" y="4513263"/>
            <a:ext cx="404193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rain hours and wind readings required per day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TARGET AND FEATURES</a:t>
            </a:r>
            <a:endParaRPr lang="en-US" sz="1200" dirty="0"/>
          </a:p>
        </p:txBody>
      </p:sp>
      <p:sp>
        <p:nvSpPr>
          <p:cNvPr id="3" name="Text 1"/>
          <p:cNvSpPr>
            <a:spLocks noGrp="1"/>
          </p:cNvSpPr>
          <p:nvPr>
            <p:ph type="title"/>
          </p:nvPr>
        </p:nvSpPr>
        <p:spPr>
          <a:xfrm>
            <a:off x="812800" y="1127720"/>
            <a:ext cx="10883392"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Two forecast features predict one observed outcome</a:t>
            </a:r>
            <a:endParaRPr lang="en-US" sz="3200" dirty="0"/>
          </a:p>
        </p:txBody>
      </p:sp>
      <p:sp>
        <p:nvSpPr>
          <p:cNvPr id="4" name="Text 2"/>
          <p:cNvSpPr/>
          <p:nvPr/>
        </p:nvSpPr>
        <p:spPr>
          <a:xfrm>
            <a:off x="812800" y="2417961"/>
            <a:ext cx="528472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933"/>
                </a:solidFill>
                <a:latin typeface="Arial" pitchFamily="34" charset="0"/>
                <a:ea typeface="Arial" pitchFamily="34" charset="-122"/>
                <a:cs typeface="Arial" pitchFamily="34" charset="-120"/>
              </a:rPr>
              <a:t>Features (Day-7 forecast)</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857302"/>
          <a:ext cx="5118100" cy="1406724"/>
        </p:xfrm>
        <a:graphic>
          <a:graphicData uri="http://schemas.openxmlformats.org/drawingml/2006/table">
            <a:tbl>
              <a:tblPr/>
              <a:tblGrid>
                <a:gridCol w="3173222">
                  <a:extLst>
                    <a:ext uri="{9D8B030D-6E8A-4147-A177-3AD203B41FA5}">
                      <a16:colId xmlns:a16="http://schemas.microsoft.com/office/drawing/2014/main" val="20000"/>
                    </a:ext>
                  </a:extLst>
                </a:gridCol>
                <a:gridCol w="1944878">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1E2933"/>
                          </a:solidFill>
                          <a:latin typeface="Arial" pitchFamily="34" charset="0"/>
                          <a:ea typeface="Arial" pitchFamily="34" charset="-122"/>
                          <a:cs typeface="Arial" pitchFamily="34" charset="-120"/>
                        </a:rPr>
                        <a:t>Feature</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nSpc>
                          <a:spcPts val="1960"/>
                        </a:lnSpc>
                        <a:buNone/>
                      </a:pPr>
                      <a:r>
                        <a:rPr lang="en-US" sz="1400" b="1" dirty="0">
                          <a:solidFill>
                            <a:srgbClr val="1E2933"/>
                          </a:solidFill>
                          <a:latin typeface="Arial" pitchFamily="34" charset="0"/>
                          <a:ea typeface="Arial" pitchFamily="34" charset="-122"/>
                          <a:cs typeface="Arial" pitchFamily="34" charset="-120"/>
                        </a:rPr>
                        <a:t>Summary</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634802">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Forecast precipitation</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Total mm, 10 am to 4 pm</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Forecast max wind</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Highest hourly km/h</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3"/>
          <p:cNvSpPr/>
          <p:nvPr/>
        </p:nvSpPr>
        <p:spPr>
          <a:xfrm>
            <a:off x="6248400" y="2417961"/>
            <a:ext cx="528472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933"/>
                </a:solidFill>
                <a:latin typeface="Arial" pitchFamily="34" charset="0"/>
                <a:ea typeface="Arial" pitchFamily="34" charset="-122"/>
                <a:cs typeface="Arial" pitchFamily="34" charset="-120"/>
              </a:rPr>
              <a:t>Target (observed)</a:t>
            </a:r>
            <a:endParaRPr lang="en-US" sz="1800" dirty="0"/>
          </a:p>
        </p:txBody>
      </p:sp>
      <p:sp>
        <p:nvSpPr>
          <p:cNvPr id="7" name="Shape 4"/>
          <p:cNvSpPr/>
          <p:nvPr/>
        </p:nvSpPr>
        <p:spPr>
          <a:xfrm>
            <a:off x="6251575" y="2847776"/>
            <a:ext cx="5124450" cy="1416249"/>
          </a:xfrm>
          <a:prstGeom prst="roundRect">
            <a:avLst>
              <a:gd name="adj" fmla="val 7547"/>
            </a:avLst>
          </a:prstGeom>
          <a:solidFill>
            <a:srgbClr val="FFFFFF"/>
          </a:solidFill>
          <a:ln w="6350">
            <a:solidFill>
              <a:srgbClr val="D9DEE2"/>
            </a:solidFill>
            <a:prstDash val="solid"/>
          </a:ln>
        </p:spPr>
        <p:txBody>
          <a:bodyPr/>
          <a:lstStyle/>
          <a:p>
            <a:endParaRPr lang="en-NZ"/>
          </a:p>
        </p:txBody>
      </p:sp>
      <p:sp>
        <p:nvSpPr>
          <p:cNvPr id="8" name="Text 5"/>
          <p:cNvSpPr/>
          <p:nvPr/>
        </p:nvSpPr>
        <p:spPr>
          <a:xfrm>
            <a:off x="6483350" y="3079552"/>
            <a:ext cx="4800727"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E2933"/>
                </a:solidFill>
                <a:latin typeface="Arial" pitchFamily="34" charset="0"/>
                <a:ea typeface="Arial" pitchFamily="34" charset="-122"/>
                <a:cs typeface="Arial" pitchFamily="34" charset="-120"/>
              </a:rPr>
              <a:t>Unsuitable = 1</a:t>
            </a:r>
            <a:r>
              <a:rPr lang="en-US" sz="1500" dirty="0">
                <a:solidFill>
                  <a:srgbClr val="1E2933"/>
                </a:solidFill>
                <a:latin typeface="Arial" pitchFamily="34" charset="0"/>
                <a:ea typeface="Arial" pitchFamily="34" charset="-122"/>
                <a:cs typeface="Arial" pitchFamily="34" charset="-120"/>
              </a:rPr>
              <a:t> if observed rain </a:t>
            </a:r>
            <a:r>
              <a:rPr lang="en-US" sz="1500" b="1" dirty="0">
                <a:solidFill>
                  <a:srgbClr val="1E2933"/>
                </a:solidFill>
                <a:latin typeface="Arial" pitchFamily="34" charset="0"/>
                <a:ea typeface="Arial" pitchFamily="34" charset="-122"/>
                <a:cs typeface="Arial" pitchFamily="34" charset="-120"/>
              </a:rPr>
              <a:t>&gt; 2.0 mm</a:t>
            </a:r>
            <a:r>
              <a:rPr lang="en-US" sz="1500" dirty="0">
                <a:solidFill>
                  <a:srgbClr val="1E2933"/>
                </a:solidFill>
                <a:latin typeface="Arial" pitchFamily="34" charset="0"/>
                <a:ea typeface="Arial" pitchFamily="34" charset="-122"/>
                <a:cs typeface="Arial" pitchFamily="34" charset="-120"/>
              </a:rPr>
              <a:t> or max wind </a:t>
            </a:r>
            <a:r>
              <a:rPr lang="en-US" sz="1500" b="1" dirty="0">
                <a:solidFill>
                  <a:srgbClr val="1E2933"/>
                </a:solidFill>
                <a:latin typeface="Arial" pitchFamily="34" charset="0"/>
                <a:ea typeface="Arial" pitchFamily="34" charset="-122"/>
                <a:cs typeface="Arial" pitchFamily="34" charset="-120"/>
              </a:rPr>
              <a:t>&gt; 30 km/h</a:t>
            </a:r>
            <a:endParaRPr lang="en-US" sz="1500" dirty="0"/>
          </a:p>
        </p:txBody>
      </p:sp>
      <p:sp>
        <p:nvSpPr>
          <p:cNvPr id="9" name="Text 6"/>
          <p:cNvSpPr/>
          <p:nvPr/>
        </p:nvSpPr>
        <p:spPr>
          <a:xfrm>
            <a:off x="6483350" y="3689152"/>
            <a:ext cx="480072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Otherwise suitable = 0</a:t>
            </a:r>
            <a:endParaRPr lang="en-US" sz="1300" dirty="0"/>
          </a:p>
        </p:txBody>
      </p:sp>
      <p:sp>
        <p:nvSpPr>
          <p:cNvPr id="10" name="Text 7"/>
          <p:cNvSpPr/>
          <p:nvPr/>
        </p:nvSpPr>
        <p:spPr>
          <a:xfrm>
            <a:off x="812800" y="4619625"/>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Arial" pitchFamily="34" charset="0"/>
                <a:ea typeface="Arial" pitchFamily="34" charset="-122"/>
                <a:cs typeface="Arial" pitchFamily="34" charset="-120"/>
              </a:rPr>
              <a:t>Outcome balance across all 949 days</a:t>
            </a:r>
            <a:endParaRPr lang="en-US" sz="1400" dirty="0"/>
          </a:p>
        </p:txBody>
      </p:sp>
      <p:sp>
        <p:nvSpPr>
          <p:cNvPr id="11" name="Text 8"/>
          <p:cNvSpPr/>
          <p:nvPr/>
        </p:nvSpPr>
        <p:spPr>
          <a:xfrm>
            <a:off x="812800" y="4970066"/>
            <a:ext cx="5270500" cy="457200"/>
          </a:xfrm>
          <a:custGeom>
            <a:avLst/>
            <a:gdLst/>
            <a:ahLst/>
            <a:cxnLst/>
            <a:rect l="l" t="t" r="r" b="b"/>
            <a:pathLst>
              <a:path w="5270500" h="457200">
                <a:moveTo>
                  <a:pt x="50800" y="0"/>
                </a:moveTo>
                <a:lnTo>
                  <a:pt x="5270500" y="0"/>
                </a:lnTo>
                <a:lnTo>
                  <a:pt x="5270500" y="457200"/>
                </a:lnTo>
                <a:lnTo>
                  <a:pt x="50800" y="457200"/>
                </a:lnTo>
                <a:arcTo wR="50800" hR="50800" stAng="5400000" swAng="5400000"/>
                <a:lnTo>
                  <a:pt x="0" y="50800"/>
                </a:lnTo>
                <a:arcTo wR="50800" hR="50800" stAng="10800000" swAng="5400000"/>
                <a:close/>
              </a:path>
            </a:pathLst>
          </a:custGeom>
          <a:solidFill>
            <a:srgbClr val="2F6DB5"/>
          </a:solidFill>
          <a:ln/>
        </p:spPr>
        <p:txBody>
          <a:bodyPr wrap="square" lIns="152400" tIns="0" rIns="152400" bIns="0" rtlCol="0" anchor="ctr">
            <a:normAutofit/>
          </a:bodyPr>
          <a:lstStyle/>
          <a:p>
            <a:pPr marL="0" indent="0" algn="l">
              <a:lnSpc>
                <a:spcPts val="1960"/>
              </a:lnSpc>
              <a:buNone/>
            </a:pPr>
            <a:r>
              <a:rPr lang="en-US" sz="1400" b="1" dirty="0">
                <a:solidFill>
                  <a:srgbClr val="F6F4EE"/>
                </a:solidFill>
                <a:latin typeface="Arial" pitchFamily="34" charset="0"/>
                <a:ea typeface="Arial" pitchFamily="34" charset="-122"/>
                <a:cs typeface="Arial" pitchFamily="34" charset="-120"/>
              </a:rPr>
              <a:t>Suitable 670 (70.6%)</a:t>
            </a:r>
            <a:endParaRPr lang="en-US" sz="1400" dirty="0"/>
          </a:p>
        </p:txBody>
      </p:sp>
      <p:sp>
        <p:nvSpPr>
          <p:cNvPr id="12" name="Text 9"/>
          <p:cNvSpPr/>
          <p:nvPr/>
        </p:nvSpPr>
        <p:spPr>
          <a:xfrm>
            <a:off x="6108700" y="4970066"/>
            <a:ext cx="5270500" cy="457200"/>
          </a:xfrm>
          <a:custGeom>
            <a:avLst/>
            <a:gdLst/>
            <a:ahLst/>
            <a:cxnLst/>
            <a:rect l="l" t="t" r="r" b="b"/>
            <a:pathLst>
              <a:path w="5270500" h="457200">
                <a:moveTo>
                  <a:pt x="0" y="0"/>
                </a:moveTo>
                <a:lnTo>
                  <a:pt x="5219700" y="0"/>
                </a:lnTo>
                <a:arcTo wR="50800" hR="50800" stAng="16200000" swAng="5400000"/>
                <a:lnTo>
                  <a:pt x="5270500" y="406400"/>
                </a:lnTo>
                <a:arcTo wR="50800" hR="50800" stAng="0" swAng="5400000"/>
                <a:lnTo>
                  <a:pt x="0" y="457200"/>
                </a:lnTo>
                <a:lnTo>
                  <a:pt x="0" y="0"/>
                </a:lnTo>
                <a:close/>
              </a:path>
            </a:pathLst>
          </a:custGeom>
          <a:solidFill>
            <a:srgbClr val="D9822B"/>
          </a:solidFill>
          <a:ln/>
        </p:spPr>
        <p:txBody>
          <a:bodyPr wrap="square" lIns="152400" tIns="0" rIns="152400" bIns="0" rtlCol="0" anchor="ctr">
            <a:normAutofit/>
          </a:bodyPr>
          <a:lstStyle/>
          <a:p>
            <a:pPr marL="0" indent="0" algn="l">
              <a:lnSpc>
                <a:spcPts val="1960"/>
              </a:lnSpc>
              <a:buNone/>
            </a:pPr>
            <a:r>
              <a:rPr lang="en-US" sz="1400" b="1" dirty="0">
                <a:solidFill>
                  <a:srgbClr val="1E2933"/>
                </a:solidFill>
                <a:latin typeface="Arial" pitchFamily="34" charset="0"/>
                <a:ea typeface="Arial" pitchFamily="34" charset="-122"/>
                <a:cs typeface="Arial" pitchFamily="34" charset="-120"/>
              </a:rPr>
              <a:t>Unsuitable 279 (29.4%)</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EXPLORATORY ANALYSIS</a:t>
            </a:r>
            <a:endParaRPr lang="en-US" sz="1200" dirty="0"/>
          </a:p>
        </p:txBody>
      </p:sp>
      <p:sp>
        <p:nvSpPr>
          <p:cNvPr id="3" name="Text 1"/>
          <p:cNvSpPr>
            <a:spLocks noGrp="1"/>
          </p:cNvSpPr>
          <p:nvPr>
            <p:ph type="title"/>
          </p:nvPr>
        </p:nvSpPr>
        <p:spPr>
          <a:xfrm>
            <a:off x="812800" y="1127720"/>
            <a:ext cx="10464800"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Day-7 forecasts underestimate both rain and wind</a:t>
            </a:r>
            <a:endParaRPr lang="en-US" sz="3200" dirty="0"/>
          </a:p>
        </p:txBody>
      </p:sp>
      <p:sp>
        <p:nvSpPr>
          <p:cNvPr id="4" name="Shape 2"/>
          <p:cNvSpPr/>
          <p:nvPr/>
        </p:nvSpPr>
        <p:spPr>
          <a:xfrm>
            <a:off x="815975" y="2421136"/>
            <a:ext cx="5175250" cy="1969591"/>
          </a:xfrm>
          <a:prstGeom prst="roundRect">
            <a:avLst>
              <a:gd name="adj" fmla="val 4997"/>
            </a:avLst>
          </a:prstGeom>
          <a:solidFill>
            <a:srgbClr val="FFFFFF"/>
          </a:solidFill>
          <a:ln w="6350">
            <a:solidFill>
              <a:srgbClr val="D9DEE2"/>
            </a:solidFill>
            <a:prstDash val="solid"/>
          </a:ln>
        </p:spPr>
        <p:txBody>
          <a:bodyPr/>
          <a:lstStyle/>
          <a:p>
            <a:endParaRPr lang="en-NZ"/>
          </a:p>
        </p:txBody>
      </p:sp>
      <p:sp>
        <p:nvSpPr>
          <p:cNvPr id="5" name="Text 3"/>
          <p:cNvSpPr/>
          <p:nvPr/>
        </p:nvSpPr>
        <p:spPr>
          <a:xfrm>
            <a:off x="1123950" y="2729111"/>
            <a:ext cx="469607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933"/>
                </a:solidFill>
                <a:latin typeface="Arial" pitchFamily="34" charset="0"/>
                <a:ea typeface="Arial" pitchFamily="34" charset="-122"/>
                <a:cs typeface="Arial" pitchFamily="34" charset="-120"/>
              </a:rPr>
              <a:t>Precipitation</a:t>
            </a:r>
            <a:endParaRPr lang="en-US" sz="1800" dirty="0"/>
          </a:p>
        </p:txBody>
      </p:sp>
      <p:sp>
        <p:nvSpPr>
          <p:cNvPr id="6" name="Text 4"/>
          <p:cNvSpPr/>
          <p:nvPr/>
        </p:nvSpPr>
        <p:spPr>
          <a:xfrm>
            <a:off x="1123950" y="3155752"/>
            <a:ext cx="2100620"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4A80"/>
                </a:solidFill>
                <a:latin typeface="Georgia" pitchFamily="18" charset="0"/>
                <a:ea typeface="Georgia" pitchFamily="18" charset="-122"/>
                <a:cs typeface="Georgia" pitchFamily="18" charset="-120"/>
              </a:rPr>
              <a:t>+1.04</a:t>
            </a:r>
            <a:endParaRPr lang="en-US" sz="4800" dirty="0"/>
          </a:p>
        </p:txBody>
      </p:sp>
      <p:sp>
        <p:nvSpPr>
          <p:cNvPr id="7" name="Text 5"/>
          <p:cNvSpPr/>
          <p:nvPr/>
        </p:nvSpPr>
        <p:spPr>
          <a:xfrm>
            <a:off x="1123950" y="3851672"/>
            <a:ext cx="180303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mm mean signed error</a:t>
            </a:r>
            <a:endParaRPr lang="en-US" sz="1300" dirty="0"/>
          </a:p>
        </p:txBody>
      </p:sp>
      <p:sp>
        <p:nvSpPr>
          <p:cNvPr id="8" name="Text 6"/>
          <p:cNvSpPr/>
          <p:nvPr/>
        </p:nvSpPr>
        <p:spPr>
          <a:xfrm>
            <a:off x="3280866" y="3155752"/>
            <a:ext cx="1852494"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E2933"/>
                </a:solidFill>
                <a:latin typeface="Georgia" pitchFamily="18" charset="0"/>
                <a:ea typeface="Georgia" pitchFamily="18" charset="-122"/>
                <a:cs typeface="Georgia" pitchFamily="18" charset="-120"/>
              </a:rPr>
              <a:t>1.29</a:t>
            </a:r>
            <a:endParaRPr lang="en-US" sz="4800" dirty="0"/>
          </a:p>
        </p:txBody>
      </p:sp>
      <p:sp>
        <p:nvSpPr>
          <p:cNvPr id="9" name="Text 7"/>
          <p:cNvSpPr/>
          <p:nvPr/>
        </p:nvSpPr>
        <p:spPr>
          <a:xfrm>
            <a:off x="3280866" y="3851672"/>
            <a:ext cx="215824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mm mean absolute error</a:t>
            </a:r>
            <a:endParaRPr lang="en-US" sz="1300" dirty="0"/>
          </a:p>
        </p:txBody>
      </p:sp>
      <p:sp>
        <p:nvSpPr>
          <p:cNvPr id="10" name="Shape 8"/>
          <p:cNvSpPr/>
          <p:nvPr/>
        </p:nvSpPr>
        <p:spPr>
          <a:xfrm>
            <a:off x="6200775" y="2421136"/>
            <a:ext cx="5175250" cy="1969591"/>
          </a:xfrm>
          <a:prstGeom prst="roundRect">
            <a:avLst>
              <a:gd name="adj" fmla="val 4997"/>
            </a:avLst>
          </a:prstGeom>
          <a:solidFill>
            <a:srgbClr val="FFFFFF"/>
          </a:solidFill>
          <a:ln w="6350">
            <a:solidFill>
              <a:srgbClr val="D9DEE2"/>
            </a:solidFill>
            <a:prstDash val="solid"/>
          </a:ln>
        </p:spPr>
        <p:txBody>
          <a:bodyPr/>
          <a:lstStyle/>
          <a:p>
            <a:endParaRPr lang="en-NZ"/>
          </a:p>
        </p:txBody>
      </p:sp>
      <p:sp>
        <p:nvSpPr>
          <p:cNvPr id="11" name="Text 9"/>
          <p:cNvSpPr/>
          <p:nvPr/>
        </p:nvSpPr>
        <p:spPr>
          <a:xfrm>
            <a:off x="6508750" y="2729111"/>
            <a:ext cx="4696079"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933"/>
                </a:solidFill>
                <a:latin typeface="Arial" pitchFamily="34" charset="0"/>
                <a:ea typeface="Arial" pitchFamily="34" charset="-122"/>
                <a:cs typeface="Arial" pitchFamily="34" charset="-120"/>
              </a:rPr>
              <a:t>Maximum wind</a:t>
            </a:r>
            <a:endParaRPr lang="en-US" sz="1800" dirty="0"/>
          </a:p>
        </p:txBody>
      </p:sp>
      <p:sp>
        <p:nvSpPr>
          <p:cNvPr id="12" name="Text 10"/>
          <p:cNvSpPr/>
          <p:nvPr/>
        </p:nvSpPr>
        <p:spPr>
          <a:xfrm>
            <a:off x="6508750" y="3155752"/>
            <a:ext cx="2092166"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4A80"/>
                </a:solidFill>
                <a:latin typeface="Georgia" pitchFamily="18" charset="0"/>
                <a:ea typeface="Georgia" pitchFamily="18" charset="-122"/>
                <a:cs typeface="Georgia" pitchFamily="18" charset="-120"/>
              </a:rPr>
              <a:t>+3.74</a:t>
            </a:r>
            <a:endParaRPr lang="en-US" sz="4800" dirty="0"/>
          </a:p>
        </p:txBody>
      </p:sp>
      <p:sp>
        <p:nvSpPr>
          <p:cNvPr id="13" name="Text 11"/>
          <p:cNvSpPr/>
          <p:nvPr/>
        </p:nvSpPr>
        <p:spPr>
          <a:xfrm>
            <a:off x="6508750" y="3851672"/>
            <a:ext cx="209216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km/h mean signed error</a:t>
            </a:r>
            <a:endParaRPr lang="en-US" sz="1300" dirty="0"/>
          </a:p>
        </p:txBody>
      </p:sp>
      <p:sp>
        <p:nvSpPr>
          <p:cNvPr id="14" name="Text 12"/>
          <p:cNvSpPr/>
          <p:nvPr/>
        </p:nvSpPr>
        <p:spPr>
          <a:xfrm>
            <a:off x="8658622" y="3155752"/>
            <a:ext cx="1937623"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E2933"/>
                </a:solidFill>
                <a:latin typeface="Georgia" pitchFamily="18" charset="0"/>
                <a:ea typeface="Georgia" pitchFamily="18" charset="-122"/>
                <a:cs typeface="Georgia" pitchFamily="18" charset="-120"/>
              </a:rPr>
              <a:t>7.20</a:t>
            </a:r>
            <a:endParaRPr lang="en-US" sz="4800" dirty="0"/>
          </a:p>
        </p:txBody>
      </p:sp>
      <p:sp>
        <p:nvSpPr>
          <p:cNvPr id="15" name="Text 13"/>
          <p:cNvSpPr/>
          <p:nvPr/>
        </p:nvSpPr>
        <p:spPr>
          <a:xfrm>
            <a:off x="8658622" y="3851672"/>
            <a:ext cx="225742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km/h mean absolute error</a:t>
            </a:r>
            <a:endParaRPr lang="en-US" sz="1300" dirty="0"/>
          </a:p>
        </p:txBody>
      </p:sp>
      <p:sp>
        <p:nvSpPr>
          <p:cNvPr id="16" name="Text 14"/>
          <p:cNvSpPr/>
          <p:nvPr/>
        </p:nvSpPr>
        <p:spPr>
          <a:xfrm>
            <a:off x="812800" y="4749502"/>
            <a:ext cx="1046480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3"/>
                </a:solidFill>
                <a:latin typeface="Arial" pitchFamily="34" charset="0"/>
                <a:ea typeface="Arial" pitchFamily="34" charset="-122"/>
                <a:cs typeface="Arial" pitchFamily="34" charset="-120"/>
              </a:rPr>
              <a:t>Applying the suitability limits directly to the raw forecast misses weather it under-predicts. A model can learn where the risk really sits.</a:t>
            </a:r>
            <a:endParaRPr lang="en-US" sz="15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37D"/>
                </a:solidFill>
                <a:latin typeface="Arial" pitchFamily="34" charset="0"/>
                <a:ea typeface="Arial" pitchFamily="34" charset="-122"/>
                <a:cs typeface="Arial" pitchFamily="34" charset="-120"/>
              </a:rPr>
              <a:t>Training period only, 657 days. Error = observed – forecast. Positive means the forecast was too low.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D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VALIDATION STRATEGY</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Split by time, with seven-day gaps</a:t>
            </a:r>
            <a:endParaRPr lang="en-US" sz="3200" dirty="0"/>
          </a:p>
        </p:txBody>
      </p:sp>
      <p:sp>
        <p:nvSpPr>
          <p:cNvPr id="4" name="Text 2"/>
          <p:cNvSpPr/>
          <p:nvPr/>
        </p:nvSpPr>
        <p:spPr>
          <a:xfrm>
            <a:off x="812800" y="1950641"/>
            <a:ext cx="3362523" cy="609600"/>
          </a:xfrm>
          <a:prstGeom prst="roundRect">
            <a:avLst>
              <a:gd name="adj" fmla="val 8333"/>
            </a:avLst>
          </a:prstGeom>
          <a:solidFill>
            <a:srgbClr val="2F6DB5"/>
          </a:solidFill>
          <a:ln/>
        </p:spPr>
        <p:txBody>
          <a:bodyPr wrap="square" lIns="137521" tIns="0" rIns="137521" bIns="0" rtlCol="0" anchor="ctr">
            <a:normAutofit/>
          </a:bodyPr>
          <a:lstStyle/>
          <a:p>
            <a:pPr marL="0" indent="0" algn="l">
              <a:lnSpc>
                <a:spcPts val="2100"/>
              </a:lnSpc>
              <a:buNone/>
            </a:pPr>
            <a:r>
              <a:rPr lang="en-US" sz="1500" b="1" dirty="0">
                <a:solidFill>
                  <a:srgbClr val="F6F4EE"/>
                </a:solidFill>
                <a:latin typeface="Arial" pitchFamily="34" charset="0"/>
                <a:ea typeface="Arial" pitchFamily="34" charset="-122"/>
                <a:cs typeface="Arial" pitchFamily="34" charset="-120"/>
              </a:rPr>
              <a:t>Train 657 days</a:t>
            </a:r>
            <a:endParaRPr lang="en-US" sz="1500" dirty="0"/>
          </a:p>
        </p:txBody>
      </p:sp>
      <p:sp>
        <p:nvSpPr>
          <p:cNvPr id="6" name="Text 4"/>
          <p:cNvSpPr/>
          <p:nvPr/>
        </p:nvSpPr>
        <p:spPr>
          <a:xfrm>
            <a:off x="4465538" y="1950641"/>
            <a:ext cx="3311723" cy="609600"/>
          </a:xfrm>
          <a:prstGeom prst="roundRect">
            <a:avLst>
              <a:gd name="adj" fmla="val 8333"/>
            </a:avLst>
          </a:prstGeom>
          <a:solidFill>
            <a:srgbClr val="5B8FCB"/>
          </a:solidFill>
          <a:ln/>
        </p:spPr>
        <p:txBody>
          <a:bodyPr wrap="square" lIns="112121" tIns="0" rIns="112121" bIns="0" rtlCol="0" anchor="ctr">
            <a:normAutofit/>
          </a:bodyPr>
          <a:lstStyle/>
          <a:p>
            <a:pPr marL="0" indent="0" algn="l">
              <a:lnSpc>
                <a:spcPts val="1960"/>
              </a:lnSpc>
              <a:buNone/>
            </a:pPr>
            <a:r>
              <a:rPr lang="en-US" sz="1400" b="1" dirty="0">
                <a:solidFill>
                  <a:srgbClr val="14202B"/>
                </a:solidFill>
                <a:latin typeface="Arial" pitchFamily="34" charset="0"/>
                <a:ea typeface="Arial" pitchFamily="34" charset="-122"/>
                <a:cs typeface="Arial" pitchFamily="34" charset="-120"/>
              </a:rPr>
              <a:t>Val 135</a:t>
            </a:r>
            <a:endParaRPr lang="en-US" sz="1400" dirty="0"/>
          </a:p>
        </p:txBody>
      </p:sp>
      <p:sp>
        <p:nvSpPr>
          <p:cNvPr id="8" name="Text 6"/>
          <p:cNvSpPr/>
          <p:nvPr/>
        </p:nvSpPr>
        <p:spPr>
          <a:xfrm>
            <a:off x="8067477" y="1950641"/>
            <a:ext cx="3311723" cy="609600"/>
          </a:xfrm>
          <a:prstGeom prst="roundRect">
            <a:avLst>
              <a:gd name="adj" fmla="val 8333"/>
            </a:avLst>
          </a:prstGeom>
          <a:solidFill>
            <a:srgbClr val="D9822B"/>
          </a:solidFill>
          <a:ln/>
        </p:spPr>
        <p:txBody>
          <a:bodyPr wrap="square" lIns="112121" tIns="0" rIns="112121" bIns="0" rtlCol="0" anchor="ctr">
            <a:normAutofit/>
          </a:bodyPr>
          <a:lstStyle/>
          <a:p>
            <a:pPr marL="0" indent="0" algn="l">
              <a:lnSpc>
                <a:spcPts val="1960"/>
              </a:lnSpc>
              <a:buNone/>
            </a:pPr>
            <a:r>
              <a:rPr lang="en-US" sz="1400" b="1" dirty="0">
                <a:solidFill>
                  <a:srgbClr val="1E2933"/>
                </a:solidFill>
                <a:latin typeface="Arial" pitchFamily="34" charset="0"/>
                <a:ea typeface="Arial" pitchFamily="34" charset="-122"/>
                <a:cs typeface="Arial" pitchFamily="34" charset="-120"/>
              </a:rPr>
              <a:t>Test 143</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4127778533"/>
              </p:ext>
            </p:extLst>
          </p:nvPr>
        </p:nvGraphicFramePr>
        <p:xfrm>
          <a:off x="825500" y="2928541"/>
          <a:ext cx="10553700" cy="1792685"/>
        </p:xfrm>
        <a:graphic>
          <a:graphicData uri="http://schemas.openxmlformats.org/drawingml/2006/table">
            <a:tbl>
              <a:tblPr/>
              <a:tblGrid>
                <a:gridCol w="2321814">
                  <a:extLst>
                    <a:ext uri="{9D8B030D-6E8A-4147-A177-3AD203B41FA5}">
                      <a16:colId xmlns:a16="http://schemas.microsoft.com/office/drawing/2014/main" val="20000"/>
                    </a:ext>
                  </a:extLst>
                </a:gridCol>
                <a:gridCol w="4010406">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gridCol w="2110740">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1E2933"/>
                          </a:solidFill>
                          <a:latin typeface="Arial" pitchFamily="34" charset="0"/>
                          <a:ea typeface="Arial" pitchFamily="34" charset="-122"/>
                          <a:cs typeface="Arial" pitchFamily="34" charset="-120"/>
                        </a:rPr>
                        <a:t>Set</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tc>
                  <a:txBody>
                    <a:bodyPr/>
                    <a:lstStyle/>
                    <a:p>
                      <a:pPr marL="0" indent="0">
                        <a:lnSpc>
                          <a:spcPts val="1960"/>
                        </a:lnSpc>
                        <a:buNone/>
                      </a:pPr>
                      <a:r>
                        <a:rPr lang="en-US" sz="1400" b="1" dirty="0">
                          <a:solidFill>
                            <a:srgbClr val="1E2933"/>
                          </a:solidFill>
                          <a:latin typeface="Arial" pitchFamily="34" charset="0"/>
                          <a:ea typeface="Arial" pitchFamily="34" charset="-122"/>
                          <a:cs typeface="Arial" pitchFamily="34" charset="-120"/>
                        </a:rPr>
                        <a:t>Period</a:t>
                      </a:r>
                      <a:endParaRPr lang="en-US" sz="1400" dirty="0">
                        <a:latin typeface="Arial" charset="0"/>
                        <a:ea typeface="Arial" charset="0"/>
                        <a:cs typeface="Arial" charset="0"/>
                      </a:endParaRPr>
                    </a:p>
                  </a:txBody>
                  <a:tcPr marL="62230" marR="62230" marT="62230" marB="62230">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tc>
                  <a:txBody>
                    <a:bodyPr/>
                    <a:lstStyle/>
                    <a:p>
                      <a:pPr marL="0" indent="0" algn="l">
                        <a:lnSpc>
                          <a:spcPts val="1960"/>
                        </a:lnSpc>
                        <a:buNone/>
                      </a:pPr>
                      <a:r>
                        <a:rPr lang="en-US" sz="1400" b="1" dirty="0">
                          <a:solidFill>
                            <a:srgbClr val="1E2933"/>
                          </a:solidFill>
                          <a:latin typeface="Arial" pitchFamily="34" charset="0"/>
                          <a:ea typeface="Arial" pitchFamily="34" charset="-122"/>
                          <a:cs typeface="Arial" pitchFamily="34" charset="-120"/>
                        </a:rPr>
                        <a:t>Unsuitable</a:t>
                      </a:r>
                      <a:endParaRPr lang="en-US" sz="1400" dirty="0">
                        <a:latin typeface="Arial" charset="0"/>
                        <a:ea typeface="Arial" charset="0"/>
                        <a:cs typeface="Arial" charset="0"/>
                      </a:endParaRPr>
                    </a:p>
                  </a:txBody>
                  <a:tcPr marL="62230" marR="62230" marT="62230" marB="62230">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tc>
                  <a:txBody>
                    <a:bodyPr/>
                    <a:lstStyle/>
                    <a:p>
                      <a:pPr marL="0" indent="0">
                        <a:lnSpc>
                          <a:spcPts val="1960"/>
                        </a:lnSpc>
                        <a:buNone/>
                      </a:pPr>
                      <a:r>
                        <a:rPr lang="en-US" sz="1400" b="1" dirty="0">
                          <a:solidFill>
                            <a:srgbClr val="1E2933"/>
                          </a:solidFill>
                          <a:latin typeface="Arial" pitchFamily="34" charset="0"/>
                          <a:ea typeface="Arial" pitchFamily="34" charset="-122"/>
                          <a:cs typeface="Arial" pitchFamily="34" charset="-120"/>
                        </a:rPr>
                        <a:t>Used for</a:t>
                      </a:r>
                      <a:endParaRPr lang="en-US" sz="1400" dirty="0">
                        <a:latin typeface="Arial" charset="0"/>
                        <a:ea typeface="Arial" charset="0"/>
                        <a:cs typeface="Arial" charset="0"/>
                      </a:endParaRPr>
                    </a:p>
                  </a:txBody>
                  <a:tcPr marL="62230" marR="62230" marT="62230" marB="62230">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Training</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26 Jan 2024 to 12 Nov 2025</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l">
                        <a:lnSpc>
                          <a:spcPts val="1960"/>
                        </a:lnSpc>
                        <a:buNone/>
                      </a:pPr>
                      <a:r>
                        <a:rPr lang="en-US" sz="1400" dirty="0">
                          <a:solidFill>
                            <a:srgbClr val="1E2933"/>
                          </a:solidFill>
                          <a:latin typeface="Arial" pitchFamily="34" charset="0"/>
                          <a:ea typeface="Arial" pitchFamily="34" charset="-122"/>
                          <a:cs typeface="Arial" pitchFamily="34" charset="-120"/>
                        </a:rPr>
                        <a:t>202 (30.7%)</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Fitting</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extLst>
                  <a:ext uri="{0D108BD9-81ED-4DB2-BD59-A6C34878D82A}">
                    <a16:rowId xmlns:a16="http://schemas.microsoft.com/office/drawing/2014/main" val="10001"/>
                  </a:ext>
                </a:extLst>
              </a:tr>
              <a:tr h="634802">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Validation</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20 Nov 2025 to 3 Apr 2026</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l">
                        <a:lnSpc>
                          <a:spcPts val="1960"/>
                        </a:lnSpc>
                        <a:buNone/>
                      </a:pPr>
                      <a:r>
                        <a:rPr lang="en-US" sz="1400" dirty="0">
                          <a:solidFill>
                            <a:srgbClr val="1E2933"/>
                          </a:solidFill>
                          <a:latin typeface="Arial" pitchFamily="34" charset="0"/>
                          <a:ea typeface="Arial" pitchFamily="34" charset="-122"/>
                          <a:cs typeface="Arial" pitchFamily="34" charset="-120"/>
                        </a:rPr>
                        <a:t>40 (29.6%)</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Model, tuning, threshold</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Test</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11 Apr to 31 Aug 2026</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l">
                        <a:lnSpc>
                          <a:spcPts val="1960"/>
                        </a:lnSpc>
                        <a:buNone/>
                      </a:pPr>
                      <a:r>
                        <a:rPr lang="en-US" sz="1400" dirty="0">
                          <a:solidFill>
                            <a:srgbClr val="1E2933"/>
                          </a:solidFill>
                          <a:latin typeface="Arial" pitchFamily="34" charset="0"/>
                          <a:ea typeface="Arial" pitchFamily="34" charset="-122"/>
                          <a:cs typeface="Arial" pitchFamily="34" charset="-120"/>
                        </a:rPr>
                        <a:t>33 (23.1%)</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Final holdout only</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7"/>
          <p:cNvSpPr/>
          <p:nvPr/>
        </p:nvSpPr>
        <p:spPr>
          <a:xfrm>
            <a:off x="812800" y="5076825"/>
            <a:ext cx="1046480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3"/>
                </a:solidFill>
                <a:latin typeface="Arial" pitchFamily="34" charset="0"/>
                <a:ea typeface="Arial" pitchFamily="34" charset="-122"/>
                <a:cs typeface="Arial" pitchFamily="34" charset="-120"/>
              </a:rPr>
              <a:t>Validation uses an expanding window: each prediction is trained only on outcomes known by its Day-7 decision date.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BASELINES VS INITIAL MODELS</a:t>
            </a:r>
            <a:endParaRPr lang="en-US" sz="1200" dirty="0"/>
          </a:p>
        </p:txBody>
      </p:sp>
      <p:sp>
        <p:nvSpPr>
          <p:cNvPr id="3" name="Text 1"/>
          <p:cNvSpPr>
            <a:spLocks noGrp="1"/>
          </p:cNvSpPr>
          <p:nvPr>
            <p:ph type="title"/>
          </p:nvPr>
        </p:nvSpPr>
        <p:spPr>
          <a:xfrm>
            <a:off x="812800" y="1127720"/>
            <a:ext cx="10883392"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Untuned, three of five models beat the forecast rule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2527759724"/>
              </p:ext>
            </p:extLst>
          </p:nvPr>
        </p:nvGraphicFramePr>
        <p:xfrm>
          <a:off x="825500" y="2340446"/>
          <a:ext cx="10553700" cy="3087688"/>
        </p:xfrm>
        <a:graphic>
          <a:graphicData uri="http://schemas.openxmlformats.org/drawingml/2006/table">
            <a:tbl>
              <a:tblPr/>
              <a:tblGrid>
                <a:gridCol w="2955036">
                  <a:extLst>
                    <a:ext uri="{9D8B030D-6E8A-4147-A177-3AD203B41FA5}">
                      <a16:colId xmlns:a16="http://schemas.microsoft.com/office/drawing/2014/main" val="20000"/>
                    </a:ext>
                  </a:extLst>
                </a:gridCol>
                <a:gridCol w="1217133">
                  <a:extLst>
                    <a:ext uri="{9D8B030D-6E8A-4147-A177-3AD203B41FA5}">
                      <a16:colId xmlns:a16="http://schemas.microsoft.com/office/drawing/2014/main" val="20001"/>
                    </a:ext>
                  </a:extLst>
                </a:gridCol>
                <a:gridCol w="2254469">
                  <a:extLst>
                    <a:ext uri="{9D8B030D-6E8A-4147-A177-3AD203B41FA5}">
                      <a16:colId xmlns:a16="http://schemas.microsoft.com/office/drawing/2014/main" val="20002"/>
                    </a:ext>
                  </a:extLst>
                </a:gridCol>
                <a:gridCol w="1324303">
                  <a:extLst>
                    <a:ext uri="{9D8B030D-6E8A-4147-A177-3AD203B41FA5}">
                      <a16:colId xmlns:a16="http://schemas.microsoft.com/office/drawing/2014/main" val="20003"/>
                    </a:ext>
                  </a:extLst>
                </a:gridCol>
                <a:gridCol w="1325241">
                  <a:extLst>
                    <a:ext uri="{9D8B030D-6E8A-4147-A177-3AD203B41FA5}">
                      <a16:colId xmlns:a16="http://schemas.microsoft.com/office/drawing/2014/main" val="20004"/>
                    </a:ext>
                  </a:extLst>
                </a:gridCol>
                <a:gridCol w="1477518">
                  <a:extLst>
                    <a:ext uri="{9D8B030D-6E8A-4147-A177-3AD203B41FA5}">
                      <a16:colId xmlns:a16="http://schemas.microsoft.com/office/drawing/2014/main" val="20005"/>
                    </a:ext>
                  </a:extLst>
                </a:gridCol>
              </a:tblGrid>
              <a:tr h="385961">
                <a:tc>
                  <a:txBody>
                    <a:bodyPr/>
                    <a:lstStyle/>
                    <a:p>
                      <a:pPr marL="0" indent="0">
                        <a:lnSpc>
                          <a:spcPts val="1960"/>
                        </a:lnSpc>
                        <a:buNone/>
                      </a:pPr>
                      <a:r>
                        <a:rPr lang="en-US" sz="1400" b="1" dirty="0">
                          <a:solidFill>
                            <a:srgbClr val="1E2933"/>
                          </a:solidFill>
                          <a:latin typeface="Arial" pitchFamily="34" charset="0"/>
                          <a:ea typeface="Arial" pitchFamily="34" charset="-122"/>
                          <a:cs typeface="Arial" pitchFamily="34" charset="-120"/>
                        </a:rPr>
                        <a:t>Approach</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Accuracy</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Balanced accuracy</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Recall</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False alarms</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Majority class</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70.4%</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50.0%</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40</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Forecast rule</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71.9%</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b="1" dirty="0">
                          <a:solidFill>
                            <a:srgbClr val="FF0000"/>
                          </a:solidFill>
                          <a:latin typeface="Arial" pitchFamily="34" charset="0"/>
                          <a:ea typeface="Arial" pitchFamily="34" charset="-122"/>
                          <a:cs typeface="Arial" pitchFamily="34" charset="-120"/>
                        </a:rPr>
                        <a:t>67.7%</a:t>
                      </a:r>
                      <a:endParaRPr lang="en-US" sz="1400" b="1" dirty="0">
                        <a:solidFill>
                          <a:srgbClr val="FF0000"/>
                        </a:solidFill>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57.5%</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17</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21</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Logistic regression</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68.9%</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69.9%</a:t>
                      </a:r>
                      <a:endParaRPr lang="en-US" sz="1400" b="1"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72.5%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11</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31</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Gradient boosting</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71.1%</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69.3%</a:t>
                      </a:r>
                      <a:endParaRPr lang="en-US" sz="1400" b="1"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65.0%</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14</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25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CatBoost</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68.9%</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68.5%</a:t>
                      </a:r>
                      <a:endParaRPr lang="en-US" sz="1400" b="1"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67.5%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13</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29</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5"/>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Random forest</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68.9%</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67.0%</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62.5%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27</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6"/>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LightGBM</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68.1%</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65.8%</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60.0%</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16</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27</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37D"/>
                </a:solidFill>
                <a:latin typeface="Arial" pitchFamily="34" charset="0"/>
                <a:ea typeface="Arial" pitchFamily="34" charset="-122"/>
                <a:cs typeface="Arial" pitchFamily="34" charset="-120"/>
              </a:rPr>
              <a:t>Validation, 135 days, 40 unsuitable. Untuned models at a 0.50 threshold. Shaded rows = baseline.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TUNING AND DIAGNOSTICS</a:t>
            </a:r>
            <a:endParaRPr lang="en-US" sz="1200" dirty="0"/>
          </a:p>
        </p:txBody>
      </p:sp>
      <p:sp>
        <p:nvSpPr>
          <p:cNvPr id="3" name="Text 1"/>
          <p:cNvSpPr>
            <a:spLocks noGrp="1"/>
          </p:cNvSpPr>
          <p:nvPr>
            <p:ph type="title"/>
          </p:nvPr>
        </p:nvSpPr>
        <p:spPr>
          <a:xfrm>
            <a:off x="812800" y="1127720"/>
            <a:ext cx="11379200" cy="492720"/>
          </a:xfrm>
          <a:prstGeom prst="rect">
            <a:avLst/>
          </a:prstGeom>
          <a:noFill/>
          <a:ln/>
        </p:spPr>
        <p:txBody>
          <a:bodyPr wrap="square" lIns="0" tIns="0" rIns="0" bIns="0" rtlCol="0" anchor="t">
            <a:normAutofit fontScale="90000"/>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Tuning nudged ranking up, making probabilities run high</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857407733"/>
              </p:ext>
            </p:extLst>
          </p:nvPr>
        </p:nvGraphicFramePr>
        <p:xfrm>
          <a:off x="825500" y="1912541"/>
          <a:ext cx="5808960" cy="2315766"/>
        </p:xfrm>
        <a:graphic>
          <a:graphicData uri="http://schemas.openxmlformats.org/drawingml/2006/table">
            <a:tbl>
              <a:tblPr/>
              <a:tblGrid>
                <a:gridCol w="1975046">
                  <a:extLst>
                    <a:ext uri="{9D8B030D-6E8A-4147-A177-3AD203B41FA5}">
                      <a16:colId xmlns:a16="http://schemas.microsoft.com/office/drawing/2014/main" val="20000"/>
                    </a:ext>
                  </a:extLst>
                </a:gridCol>
                <a:gridCol w="1161792">
                  <a:extLst>
                    <a:ext uri="{9D8B030D-6E8A-4147-A177-3AD203B41FA5}">
                      <a16:colId xmlns:a16="http://schemas.microsoft.com/office/drawing/2014/main" val="20001"/>
                    </a:ext>
                  </a:extLst>
                </a:gridCol>
                <a:gridCol w="1161792">
                  <a:extLst>
                    <a:ext uri="{9D8B030D-6E8A-4147-A177-3AD203B41FA5}">
                      <a16:colId xmlns:a16="http://schemas.microsoft.com/office/drawing/2014/main" val="20002"/>
                    </a:ext>
                  </a:extLst>
                </a:gridCol>
                <a:gridCol w="1510330">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1E2933"/>
                          </a:solidFill>
                          <a:latin typeface="Arial" pitchFamily="34" charset="0"/>
                          <a:ea typeface="Arial" pitchFamily="34" charset="-122"/>
                          <a:cs typeface="Arial" pitchFamily="34" charset="-120"/>
                        </a:rPr>
                        <a:t>Tuned model</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ROC-AUC</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Brier</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Mean risk</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Logistic regression</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0.781</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0.263</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59.4%</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CatBoost</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0.758</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0.207</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46.9%</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Random forest</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0.754</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0.285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62.2%</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LightGBM</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0.748</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0.203</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45.4%</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Forecast rule</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0.677</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n/a</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n/a</a:t>
                      </a:r>
                      <a:endParaRPr lang="en-US" sz="1400" dirty="0">
                        <a:latin typeface="Arial" charset="0"/>
                        <a:ea typeface="Arial" charset="0"/>
                        <a:cs typeface="Arial" charset="0"/>
                      </a:endParaRPr>
                    </a:p>
                  </a:txBody>
                  <a:tcPr marL="62230" marR="62230" marT="62230" marB="62230">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380706"/>
            <a:ext cx="599631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Tuning searched 16 to 20 settings per model on ROC-AUC then Brier score.</a:t>
            </a:r>
            <a:endParaRPr lang="en-US" sz="1300" dirty="0"/>
          </a:p>
        </p:txBody>
      </p:sp>
      <p:sp>
        <p:nvSpPr>
          <p:cNvPr id="6" name="Shape 3"/>
          <p:cNvSpPr/>
          <p:nvPr/>
        </p:nvSpPr>
        <p:spPr>
          <a:xfrm>
            <a:off x="6990060" y="1899841"/>
            <a:ext cx="4389140" cy="2328466"/>
          </a:xfrm>
          <a:prstGeom prst="roundRect">
            <a:avLst>
              <a:gd name="adj" fmla="val 3746"/>
            </a:avLst>
          </a:prstGeom>
          <a:solidFill>
            <a:srgbClr val="FBE8D6"/>
          </a:solidFill>
          <a:ln/>
        </p:spPr>
        <p:txBody>
          <a:bodyPr/>
          <a:lstStyle/>
          <a:p>
            <a:endParaRPr lang="en-NZ"/>
          </a:p>
        </p:txBody>
      </p:sp>
      <p:sp>
        <p:nvSpPr>
          <p:cNvPr id="7" name="Text 4"/>
          <p:cNvSpPr/>
          <p:nvPr/>
        </p:nvSpPr>
        <p:spPr>
          <a:xfrm>
            <a:off x="7244060" y="2153841"/>
            <a:ext cx="399757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7A3A0C"/>
                </a:solidFill>
                <a:latin typeface="Arial" pitchFamily="34" charset="0"/>
                <a:ea typeface="Arial" pitchFamily="34" charset="-122"/>
                <a:cs typeface="Arial" pitchFamily="34" charset="-120"/>
              </a:rPr>
              <a:t>Calibration gap</a:t>
            </a:r>
            <a:endParaRPr lang="en-US" sz="1700" dirty="0"/>
          </a:p>
        </p:txBody>
      </p:sp>
      <p:sp>
        <p:nvSpPr>
          <p:cNvPr id="8" name="Text 5"/>
          <p:cNvSpPr/>
          <p:nvPr/>
        </p:nvSpPr>
        <p:spPr>
          <a:xfrm>
            <a:off x="7244060" y="2514501"/>
            <a:ext cx="3997574" cy="640060"/>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7A3A0C"/>
                </a:solidFill>
                <a:latin typeface="Georgia" pitchFamily="18" charset="0"/>
                <a:ea typeface="Georgia" pitchFamily="18" charset="-122"/>
                <a:cs typeface="Georgia" pitchFamily="18" charset="-120"/>
              </a:rPr>
              <a:t>29.6%</a:t>
            </a:r>
            <a:endParaRPr lang="en-US" sz="4400" dirty="0"/>
          </a:p>
        </p:txBody>
      </p:sp>
      <p:sp>
        <p:nvSpPr>
          <p:cNvPr id="9" name="Text 6"/>
          <p:cNvSpPr/>
          <p:nvPr/>
        </p:nvSpPr>
        <p:spPr>
          <a:xfrm>
            <a:off x="7244060" y="3230761"/>
            <a:ext cx="399757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3410"/>
                </a:solidFill>
                <a:latin typeface="Arial" pitchFamily="34" charset="0"/>
                <a:ea typeface="Arial" pitchFamily="34" charset="-122"/>
                <a:cs typeface="Arial" pitchFamily="34" charset="-120"/>
              </a:rPr>
              <a:t>observed unsuitable rate in validation, against 45% to 62% mean predicted risk. Every model overstates it.</a:t>
            </a:r>
            <a:endParaRPr lang="en-US" sz="13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37D"/>
                </a:solidFill>
                <a:latin typeface="Arial" pitchFamily="34" charset="0"/>
                <a:ea typeface="Arial" pitchFamily="34" charset="-122"/>
                <a:cs typeface="Arial" pitchFamily="34" charset="-120"/>
              </a:rPr>
              <a:t>Expanding window validation, 135 days. Lower Brier is better. Source: 2024 to 2026 data set notebook rerun.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MODEL AND THRESHOLD SELECTION</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fontScale="90000"/>
          </a:bodyPr>
          <a:lstStyle/>
          <a:p>
            <a:pPr marL="0" indent="0" algn="l">
              <a:lnSpc>
                <a:spcPts val="3680"/>
              </a:lnSpc>
              <a:buNone/>
            </a:pPr>
            <a:r>
              <a:rPr lang="en-US" sz="3200" b="1" i="0" dirty="0" err="1">
                <a:solidFill>
                  <a:srgbClr val="1E2933"/>
                </a:solidFill>
                <a:latin typeface="Georgia" pitchFamily="18" charset="0"/>
                <a:ea typeface="Georgia" pitchFamily="18" charset="-122"/>
                <a:cs typeface="Georgia" pitchFamily="18" charset="-120"/>
              </a:rPr>
              <a:t>CatBoost</a:t>
            </a:r>
            <a:r>
              <a:rPr lang="en-US" sz="3200" b="1" i="0" dirty="0">
                <a:solidFill>
                  <a:srgbClr val="1E2933"/>
                </a:solidFill>
                <a:latin typeface="Georgia" pitchFamily="18" charset="0"/>
                <a:ea typeface="Georgia" pitchFamily="18" charset="-122"/>
                <a:cs typeface="Georgia" pitchFamily="18" charset="-120"/>
              </a:rPr>
              <a:t> wins! at 0.37 threshold catches 36/40 bad days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2984121360"/>
              </p:ext>
            </p:extLst>
          </p:nvPr>
        </p:nvGraphicFramePr>
        <p:xfrm>
          <a:off x="825500" y="1912541"/>
          <a:ext cx="10553700" cy="1929805"/>
        </p:xfrm>
        <a:graphic>
          <a:graphicData uri="http://schemas.openxmlformats.org/drawingml/2006/table">
            <a:tbl>
              <a:tblPr/>
              <a:tblGrid>
                <a:gridCol w="2955036">
                  <a:extLst>
                    <a:ext uri="{9D8B030D-6E8A-4147-A177-3AD203B41FA5}">
                      <a16:colId xmlns:a16="http://schemas.microsoft.com/office/drawing/2014/main" val="20000"/>
                    </a:ext>
                  </a:extLst>
                </a:gridCol>
                <a:gridCol w="1067361">
                  <a:extLst>
                    <a:ext uri="{9D8B030D-6E8A-4147-A177-3AD203B41FA5}">
                      <a16:colId xmlns:a16="http://schemas.microsoft.com/office/drawing/2014/main" val="20001"/>
                    </a:ext>
                  </a:extLst>
                </a:gridCol>
                <a:gridCol w="1887675">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477518">
                  <a:extLst>
                    <a:ext uri="{9D8B030D-6E8A-4147-A177-3AD203B41FA5}">
                      <a16:colId xmlns:a16="http://schemas.microsoft.com/office/drawing/2014/main" val="20004"/>
                    </a:ext>
                  </a:extLst>
                </a:gridCol>
                <a:gridCol w="949833">
                  <a:extLst>
                    <a:ext uri="{9D8B030D-6E8A-4147-A177-3AD203B41FA5}">
                      <a16:colId xmlns:a16="http://schemas.microsoft.com/office/drawing/2014/main" val="20005"/>
                    </a:ext>
                  </a:extLst>
                </a:gridCol>
                <a:gridCol w="949833">
                  <a:extLst>
                    <a:ext uri="{9D8B030D-6E8A-4147-A177-3AD203B41FA5}">
                      <a16:colId xmlns:a16="http://schemas.microsoft.com/office/drawing/2014/main" val="20006"/>
                    </a:ext>
                  </a:extLst>
                </a:gridCol>
              </a:tblGrid>
              <a:tr h="385961">
                <a:tc>
                  <a:txBody>
                    <a:bodyPr/>
                    <a:lstStyle/>
                    <a:p>
                      <a:pPr marL="0" indent="0">
                        <a:lnSpc>
                          <a:spcPts val="1960"/>
                        </a:lnSpc>
                        <a:buNone/>
                      </a:pPr>
                      <a:r>
                        <a:rPr lang="en-US" sz="1400" b="1" dirty="0">
                          <a:solidFill>
                            <a:srgbClr val="1E2933"/>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Threshold</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Balanced accuracy</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Recall</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Specificity</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Alarms</a:t>
                      </a:r>
                      <a:endParaRPr lang="en-US" sz="1400" dirty="0">
                        <a:latin typeface="Arial" charset="0"/>
                        <a:ea typeface="Arial" charset="0"/>
                        <a:cs typeface="Arial" charset="0"/>
                      </a:endParaRPr>
                    </a:p>
                  </a:txBody>
                  <a:tcPr marL="62230" marR="62230" marT="62230" marB="62230">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CatBoost</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0.37</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71.3%</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90.0%</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52.6%</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4</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45</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Logistic regression</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0.66</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71.2%</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62.5%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80.0%</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19</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Random forest</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0.55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70.6%</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87.5%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53.7%</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44</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LightGBM</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0.40</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69.1%</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75.0%</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63.2%</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10</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35</a:t>
                      </a:r>
                      <a:endParaRPr lang="en-US" sz="1400" dirty="0">
                        <a:latin typeface="Arial" charset="0"/>
                        <a:ea typeface="Arial" charset="0"/>
                        <a:cs typeface="Arial" charset="0"/>
                      </a:endParaRPr>
                    </a:p>
                  </a:txBody>
                  <a:tcPr marL="62230" marR="62230" marT="62230" marB="6223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815975" y="4150320"/>
            <a:ext cx="5175250" cy="1169491"/>
          </a:xfrm>
          <a:prstGeom prst="roundRect">
            <a:avLst>
              <a:gd name="adj" fmla="val 8416"/>
            </a:avLst>
          </a:prstGeom>
          <a:solidFill>
            <a:srgbClr val="FFFFFF"/>
          </a:solidFill>
          <a:ln w="6350">
            <a:solidFill>
              <a:srgbClr val="D9DEE2"/>
            </a:solidFill>
            <a:prstDash val="solid"/>
          </a:ln>
        </p:spPr>
        <p:txBody>
          <a:bodyPr/>
          <a:lstStyle/>
          <a:p>
            <a:endParaRPr lang="en-NZ"/>
          </a:p>
        </p:txBody>
      </p:sp>
      <p:sp>
        <p:nvSpPr>
          <p:cNvPr id="6" name="Text 3"/>
          <p:cNvSpPr/>
          <p:nvPr/>
        </p:nvSpPr>
        <p:spPr>
          <a:xfrm>
            <a:off x="1022350" y="4356695"/>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933"/>
                </a:solidFill>
                <a:latin typeface="Arial" pitchFamily="34" charset="0"/>
                <a:ea typeface="Arial" pitchFamily="34" charset="-122"/>
                <a:cs typeface="Arial" pitchFamily="34" charset="-120"/>
              </a:rPr>
              <a:t>0.50 to 0.37</a:t>
            </a:r>
            <a:endParaRPr lang="en-US" sz="1600" dirty="0"/>
          </a:p>
        </p:txBody>
      </p:sp>
      <p:sp>
        <p:nvSpPr>
          <p:cNvPr id="7" name="Text 4"/>
          <p:cNvSpPr/>
          <p:nvPr/>
        </p:nvSpPr>
        <p:spPr>
          <a:xfrm>
            <a:off x="1022350" y="4651276"/>
            <a:ext cx="490537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Missed days fell from 16 to 4, false alarms rose from 29 to 45. balanced accuracy +6.6 points.</a:t>
            </a:r>
            <a:endParaRPr lang="en-US" sz="1300" dirty="0"/>
          </a:p>
        </p:txBody>
      </p:sp>
      <p:sp>
        <p:nvSpPr>
          <p:cNvPr id="8" name="Shape 5"/>
          <p:cNvSpPr/>
          <p:nvPr/>
        </p:nvSpPr>
        <p:spPr>
          <a:xfrm>
            <a:off x="6200775" y="4150320"/>
            <a:ext cx="5175250" cy="1169491"/>
          </a:xfrm>
          <a:prstGeom prst="roundRect">
            <a:avLst>
              <a:gd name="adj" fmla="val 8416"/>
            </a:avLst>
          </a:prstGeom>
          <a:solidFill>
            <a:srgbClr val="FFFFFF"/>
          </a:solidFill>
          <a:ln w="6350">
            <a:solidFill>
              <a:srgbClr val="D9DEE2"/>
            </a:solidFill>
            <a:prstDash val="solid"/>
          </a:ln>
        </p:spPr>
        <p:txBody>
          <a:bodyPr/>
          <a:lstStyle/>
          <a:p>
            <a:endParaRPr lang="en-NZ"/>
          </a:p>
        </p:txBody>
      </p:sp>
      <p:sp>
        <p:nvSpPr>
          <p:cNvPr id="9" name="Text 6"/>
          <p:cNvSpPr/>
          <p:nvPr/>
        </p:nvSpPr>
        <p:spPr>
          <a:xfrm>
            <a:off x="6407150" y="4356695"/>
            <a:ext cx="490537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933"/>
                </a:solidFill>
                <a:latin typeface="Arial" pitchFamily="34" charset="0"/>
                <a:ea typeface="Arial" pitchFamily="34" charset="-122"/>
                <a:cs typeface="Arial" pitchFamily="34" charset="-120"/>
              </a:rPr>
              <a:t>How it was chosen</a:t>
            </a:r>
            <a:endParaRPr lang="en-US" sz="1600" dirty="0"/>
          </a:p>
        </p:txBody>
      </p:sp>
      <p:sp>
        <p:nvSpPr>
          <p:cNvPr id="10" name="Text 7"/>
          <p:cNvSpPr/>
          <p:nvPr/>
        </p:nvSpPr>
        <p:spPr>
          <a:xfrm>
            <a:off x="6407150" y="4651276"/>
            <a:ext cx="490537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Best balanced accuracy, then recall and F1. It is also the cheapest option under 3:1 costs.</a:t>
            </a:r>
            <a:endParaRPr lang="en-US" sz="13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37D"/>
                </a:solidFill>
                <a:latin typeface="Arial" pitchFamily="34" charset="0"/>
                <a:ea typeface="Arial" pitchFamily="34" charset="-122"/>
                <a:cs typeface="Arial" pitchFamily="34" charset="-120"/>
              </a:rPr>
              <a:t>Validation, 135 days, 40 unsuitable. Thresholds 0.20 to 0.79. Selection fixed before the test set was used.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D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FINAL HOLDOUT TEST</a:t>
            </a:r>
            <a:endParaRPr lang="en-US" sz="1200" dirty="0"/>
          </a:p>
        </p:txBody>
      </p:sp>
      <p:sp>
        <p:nvSpPr>
          <p:cNvPr id="3" name="Text 1"/>
          <p:cNvSpPr>
            <a:spLocks noGrp="1"/>
          </p:cNvSpPr>
          <p:nvPr>
            <p:ph type="title"/>
          </p:nvPr>
        </p:nvSpPr>
        <p:spPr>
          <a:xfrm>
            <a:off x="812800" y="1127720"/>
            <a:ext cx="10883392" cy="960041"/>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On unseen days </a:t>
            </a:r>
            <a:r>
              <a:rPr lang="en-US" sz="3200" b="1" i="0" dirty="0" err="1">
                <a:solidFill>
                  <a:srgbClr val="1E2933"/>
                </a:solidFill>
                <a:latin typeface="Georgia" pitchFamily="18" charset="0"/>
                <a:ea typeface="Georgia" pitchFamily="18" charset="-122"/>
                <a:cs typeface="Georgia" pitchFamily="18" charset="-120"/>
              </a:rPr>
              <a:t>CatBoost</a:t>
            </a:r>
            <a:r>
              <a:rPr lang="en-US" sz="3200" b="1" i="0" dirty="0">
                <a:solidFill>
                  <a:srgbClr val="1E2933"/>
                </a:solidFill>
                <a:latin typeface="Georgia" pitchFamily="18" charset="0"/>
                <a:ea typeface="Georgia" pitchFamily="18" charset="-122"/>
                <a:cs typeface="Georgia" pitchFamily="18" charset="-120"/>
              </a:rPr>
              <a:t> caught 22/33 bad days</a:t>
            </a:r>
            <a:endParaRPr lang="en-US" sz="3200" dirty="0"/>
          </a:p>
        </p:txBody>
      </p:sp>
      <p:sp>
        <p:nvSpPr>
          <p:cNvPr id="4" name="Text 2"/>
          <p:cNvSpPr/>
          <p:nvPr/>
        </p:nvSpPr>
        <p:spPr>
          <a:xfrm>
            <a:off x="812800" y="2367161"/>
            <a:ext cx="3059523"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4A80"/>
                </a:solidFill>
                <a:latin typeface="Georgia" pitchFamily="18" charset="0"/>
                <a:ea typeface="Georgia" pitchFamily="18" charset="-122"/>
                <a:cs typeface="Georgia" pitchFamily="18" charset="-120"/>
              </a:rPr>
              <a:t>72.0%</a:t>
            </a:r>
            <a:endParaRPr lang="en-US" sz="4800" dirty="0"/>
          </a:p>
        </p:txBody>
      </p:sp>
      <p:sp>
        <p:nvSpPr>
          <p:cNvPr id="5" name="Text 3"/>
          <p:cNvSpPr/>
          <p:nvPr/>
        </p:nvSpPr>
        <p:spPr>
          <a:xfrm>
            <a:off x="812800" y="3063081"/>
            <a:ext cx="356449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balanced accuracy, vs 65.9% for the rule</a:t>
            </a:r>
            <a:endParaRPr lang="en-US" sz="1300" dirty="0"/>
          </a:p>
        </p:txBody>
      </p:sp>
      <p:sp>
        <p:nvSpPr>
          <p:cNvPr id="6" name="Text 4"/>
          <p:cNvSpPr/>
          <p:nvPr/>
        </p:nvSpPr>
        <p:spPr>
          <a:xfrm>
            <a:off x="4392811" y="2367161"/>
            <a:ext cx="203775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1D4A80"/>
                </a:solidFill>
                <a:latin typeface="Georgia" pitchFamily="18" charset="0"/>
                <a:ea typeface="Georgia" pitchFamily="18" charset="-122"/>
                <a:cs typeface="Georgia" pitchFamily="18" charset="-120"/>
              </a:rPr>
              <a:t>0.797</a:t>
            </a:r>
            <a:endParaRPr lang="en-US" sz="4800" dirty="0"/>
          </a:p>
        </p:txBody>
      </p:sp>
      <p:sp>
        <p:nvSpPr>
          <p:cNvPr id="7" name="Text 5"/>
          <p:cNvSpPr/>
          <p:nvPr/>
        </p:nvSpPr>
        <p:spPr>
          <a:xfrm>
            <a:off x="4392811" y="3063081"/>
            <a:ext cx="203775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ROC-AUC (Gini 0.593)</a:t>
            </a:r>
            <a:endParaRPr lang="en-US" sz="1300" dirty="0"/>
          </a:p>
        </p:txBody>
      </p:sp>
      <p:sp>
        <p:nvSpPr>
          <p:cNvPr id="8" name="Text 6"/>
          <p:cNvSpPr/>
          <p:nvPr/>
        </p:nvSpPr>
        <p:spPr>
          <a:xfrm>
            <a:off x="6700540" y="2367161"/>
            <a:ext cx="2344054"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7A3A0C"/>
                </a:solidFill>
                <a:latin typeface="Georgia" pitchFamily="18" charset="0"/>
                <a:ea typeface="Georgia" pitchFamily="18" charset="-122"/>
                <a:cs typeface="Georgia" pitchFamily="18" charset="-120"/>
              </a:rPr>
              <a:t>+10</a:t>
            </a:r>
            <a:endParaRPr lang="en-US" sz="4800" dirty="0"/>
          </a:p>
        </p:txBody>
      </p:sp>
      <p:sp>
        <p:nvSpPr>
          <p:cNvPr id="9" name="Text 7"/>
          <p:cNvSpPr/>
          <p:nvPr/>
        </p:nvSpPr>
        <p:spPr>
          <a:xfrm>
            <a:off x="6700540" y="3063081"/>
            <a:ext cx="2730937"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3"/>
                </a:solidFill>
                <a:latin typeface="Arial" pitchFamily="34" charset="0"/>
                <a:ea typeface="Arial" pitchFamily="34" charset="-122"/>
                <a:cs typeface="Arial" pitchFamily="34" charset="-120"/>
              </a:rPr>
              <a:t>more false alarms than the rule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2258540992"/>
              </p:ext>
            </p:extLst>
          </p:nvPr>
        </p:nvGraphicFramePr>
        <p:xfrm>
          <a:off x="825500" y="3611662"/>
          <a:ext cx="10553700" cy="1543844"/>
        </p:xfrm>
        <a:graphic>
          <a:graphicData uri="http://schemas.openxmlformats.org/drawingml/2006/table">
            <a:tbl>
              <a:tblPr/>
              <a:tblGrid>
                <a:gridCol w="2532888">
                  <a:extLst>
                    <a:ext uri="{9D8B030D-6E8A-4147-A177-3AD203B41FA5}">
                      <a16:colId xmlns:a16="http://schemas.microsoft.com/office/drawing/2014/main" val="20000"/>
                    </a:ext>
                  </a:extLst>
                </a:gridCol>
                <a:gridCol w="1371981">
                  <a:extLst>
                    <a:ext uri="{9D8B030D-6E8A-4147-A177-3AD203B41FA5}">
                      <a16:colId xmlns:a16="http://schemas.microsoft.com/office/drawing/2014/main" val="20001"/>
                    </a:ext>
                  </a:extLst>
                </a:gridCol>
                <a:gridCol w="1794129">
                  <a:extLst>
                    <a:ext uri="{9D8B030D-6E8A-4147-A177-3AD203B41FA5}">
                      <a16:colId xmlns:a16="http://schemas.microsoft.com/office/drawing/2014/main" val="20002"/>
                    </a:ext>
                  </a:extLst>
                </a:gridCol>
                <a:gridCol w="1266444">
                  <a:extLst>
                    <a:ext uri="{9D8B030D-6E8A-4147-A177-3AD203B41FA5}">
                      <a16:colId xmlns:a16="http://schemas.microsoft.com/office/drawing/2014/main" val="20003"/>
                    </a:ext>
                  </a:extLst>
                </a:gridCol>
                <a:gridCol w="1266444">
                  <a:extLst>
                    <a:ext uri="{9D8B030D-6E8A-4147-A177-3AD203B41FA5}">
                      <a16:colId xmlns:a16="http://schemas.microsoft.com/office/drawing/2014/main" val="20004"/>
                    </a:ext>
                  </a:extLst>
                </a:gridCol>
                <a:gridCol w="1160907">
                  <a:extLst>
                    <a:ext uri="{9D8B030D-6E8A-4147-A177-3AD203B41FA5}">
                      <a16:colId xmlns:a16="http://schemas.microsoft.com/office/drawing/2014/main" val="20005"/>
                    </a:ext>
                  </a:extLst>
                </a:gridCol>
                <a:gridCol w="1160907">
                  <a:extLst>
                    <a:ext uri="{9D8B030D-6E8A-4147-A177-3AD203B41FA5}">
                      <a16:colId xmlns:a16="http://schemas.microsoft.com/office/drawing/2014/main" val="20006"/>
                    </a:ext>
                  </a:extLst>
                </a:gridCol>
              </a:tblGrid>
              <a:tr h="385961">
                <a:tc>
                  <a:txBody>
                    <a:bodyPr/>
                    <a:lstStyle/>
                    <a:p>
                      <a:pPr marL="0" indent="0">
                        <a:lnSpc>
                          <a:spcPts val="1960"/>
                        </a:lnSpc>
                        <a:buNone/>
                      </a:pPr>
                      <a:r>
                        <a:rPr lang="en-US" sz="1400" b="1" dirty="0">
                          <a:solidFill>
                            <a:srgbClr val="1E2933"/>
                          </a:solidFill>
                          <a:latin typeface="Arial" pitchFamily="34" charset="0"/>
                          <a:ea typeface="Arial" pitchFamily="34" charset="-122"/>
                          <a:cs typeface="Arial" pitchFamily="34" charset="-120"/>
                        </a:rPr>
                        <a:t>Approach</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Accuracy</a:t>
                      </a:r>
                      <a:endParaRPr lang="en-US" sz="1400" dirty="0">
                        <a:latin typeface="Arial" charset="0"/>
                        <a:ea typeface="Arial" charset="0"/>
                        <a:cs typeface="Arial" charset="0"/>
                      </a:endParaRPr>
                    </a:p>
                  </a:txBody>
                  <a:tcPr marL="62230" marR="62230" marT="62230" marB="62230">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Balanced Accuracy</a:t>
                      </a:r>
                      <a:endParaRPr lang="en-US" sz="1400" dirty="0">
                        <a:latin typeface="Arial" charset="0"/>
                        <a:ea typeface="Arial" charset="0"/>
                        <a:cs typeface="Arial" charset="0"/>
                      </a:endParaRPr>
                    </a:p>
                  </a:txBody>
                  <a:tcPr marL="62230" marR="62230" marT="62230" marB="62230">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Recall</a:t>
                      </a:r>
                      <a:endParaRPr lang="en-US" sz="1400" dirty="0">
                        <a:latin typeface="Arial" charset="0"/>
                        <a:ea typeface="Arial" charset="0"/>
                        <a:cs typeface="Arial" charset="0"/>
                      </a:endParaRPr>
                    </a:p>
                  </a:txBody>
                  <a:tcPr marL="62230" marR="62230" marT="62230" marB="62230">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Caught</a:t>
                      </a:r>
                      <a:endParaRPr lang="en-US" sz="1400" dirty="0">
                        <a:latin typeface="Arial" charset="0"/>
                        <a:ea typeface="Arial" charset="0"/>
                        <a:cs typeface="Arial" charset="0"/>
                      </a:endParaRPr>
                    </a:p>
                  </a:txBody>
                  <a:tcPr marL="62230" marR="62230" marT="62230" marB="62230">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Missed</a:t>
                      </a:r>
                      <a:endParaRPr lang="en-US" sz="1400" dirty="0">
                        <a:latin typeface="Arial" charset="0"/>
                        <a:ea typeface="Arial" charset="0"/>
                        <a:cs typeface="Arial" charset="0"/>
                      </a:endParaRPr>
                    </a:p>
                  </a:txBody>
                  <a:tcPr marL="62230" marR="62230" marT="62230" marB="62230">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tc>
                  <a:txBody>
                    <a:bodyPr/>
                    <a:lstStyle/>
                    <a:p>
                      <a:pPr marL="0" indent="0" algn="r">
                        <a:lnSpc>
                          <a:spcPts val="1960"/>
                        </a:lnSpc>
                        <a:buNone/>
                      </a:pPr>
                      <a:r>
                        <a:rPr lang="en-US" sz="1400" b="1" dirty="0">
                          <a:solidFill>
                            <a:srgbClr val="1E2933"/>
                          </a:solidFill>
                          <a:latin typeface="Arial" pitchFamily="34" charset="0"/>
                          <a:ea typeface="Arial" pitchFamily="34" charset="-122"/>
                          <a:cs typeface="Arial" pitchFamily="34" charset="-120"/>
                        </a:rPr>
                        <a:t>Alarms</a:t>
                      </a:r>
                      <a:endParaRPr lang="en-US" sz="1400" dirty="0">
                        <a:latin typeface="Arial" charset="0"/>
                        <a:ea typeface="Arial" charset="0"/>
                        <a:cs typeface="Arial" charset="0"/>
                      </a:endParaRPr>
                    </a:p>
                  </a:txBody>
                  <a:tcPr marL="62230" marR="62230" marT="62230" marB="62230">
                    <a:lnL w="12700" cap="flat" cmpd="sng" algn="ctr">
                      <a:solidFill>
                        <a:srgbClr val="ACB0B1"/>
                      </a:solidFill>
                      <a:prstDash val="solid"/>
                      <a:round/>
                      <a:headEnd type="none" w="med" len="med"/>
                      <a:tailEnd type="none" w="med" len="med"/>
                    </a:lnL>
                    <a:lnR w="12700" cap="flat" cmpd="sng" algn="ctr">
                      <a:solidFill>
                        <a:srgbClr val="ACB0B1"/>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ACB0B1"/>
                      </a:solidFill>
                      <a:prstDash val="solid"/>
                      <a:round/>
                      <a:headEnd type="none" w="med" len="med"/>
                      <a:tailEnd type="none" w="med" len="med"/>
                    </a:lnB>
                    <a:solidFill>
                      <a:srgbClr val="D7DCDE"/>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CatBoost</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74.8%</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72.0%</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66.7%</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22</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11</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25</a:t>
                      </a:r>
                      <a:endParaRPr lang="en-US" sz="1400" dirty="0">
                        <a:latin typeface="Arial" charset="0"/>
                        <a:ea typeface="Arial" charset="0"/>
                        <a:cs typeface="Arial" charset="0"/>
                      </a:endParaRPr>
                    </a:p>
                  </a:txBody>
                  <a:tcPr marL="62230" marR="62230" marT="62230" marB="62230">
                    <a:lnL w="12700" cap="flat" cmpd="sng" algn="ctr">
                      <a:solidFill>
                        <a:srgbClr val="B5BCC5"/>
                      </a:solidFill>
                      <a:prstDash val="solid"/>
                      <a:round/>
                      <a:headEnd type="none" w="med" len="med"/>
                      <a:tailEnd type="none" w="med" len="med"/>
                    </a:lnL>
                    <a:lnR w="12700" cap="flat" cmpd="sng" algn="ctr">
                      <a:solidFill>
                        <a:srgbClr val="B5BCC5"/>
                      </a:solidFill>
                      <a:prstDash val="solid"/>
                      <a:round/>
                      <a:headEnd type="none" w="med" len="med"/>
                      <a:tailEnd type="none" w="med" len="med"/>
                    </a:lnR>
                    <a:lnT w="12700" cap="flat" cmpd="sng" algn="ctr">
                      <a:solidFill>
                        <a:srgbClr val="ACB0B1"/>
                      </a:solidFill>
                      <a:prstDash val="solid"/>
                      <a:round/>
                      <a:headEnd type="none" w="med" len="med"/>
                      <a:tailEnd type="none" w="med" len="med"/>
                    </a:lnT>
                    <a:lnB w="12700" cap="flat" cmpd="sng" algn="ctr">
                      <a:solidFill>
                        <a:srgbClr val="B5BCC5"/>
                      </a:solidFill>
                      <a:prstDash val="solid"/>
                      <a:round/>
                      <a:headEnd type="none" w="med" len="med"/>
                      <a:tailEnd type="none" w="med" len="med"/>
                    </a:lnB>
                    <a:solidFill>
                      <a:srgbClr val="E3ECF7"/>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Forecast rule</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76.9%</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65.9%</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45.5%</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18</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15</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5BCC5"/>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E2933"/>
                          </a:solidFill>
                          <a:latin typeface="Arial" pitchFamily="34" charset="0"/>
                          <a:ea typeface="Arial" pitchFamily="34" charset="-122"/>
                          <a:cs typeface="Arial" pitchFamily="34" charset="-120"/>
                        </a:rPr>
                        <a:t>Majority class</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76.9%</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50.0%</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0.0%</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33</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tc>
                  <a:txBody>
                    <a:bodyPr/>
                    <a:lstStyle/>
                    <a:p>
                      <a:pPr marL="0" indent="0" algn="r">
                        <a:lnSpc>
                          <a:spcPts val="1960"/>
                        </a:lnSpc>
                        <a:buNone/>
                      </a:pPr>
                      <a:r>
                        <a:rPr lang="en-US" sz="1400" dirty="0">
                          <a:solidFill>
                            <a:srgbClr val="1E2933"/>
                          </a:solidFill>
                          <a:latin typeface="Arial" pitchFamily="34" charset="0"/>
                          <a:ea typeface="Arial" pitchFamily="34" charset="-122"/>
                          <a:cs typeface="Arial" pitchFamily="34" charset="-120"/>
                        </a:rPr>
                        <a:t>0</a:t>
                      </a:r>
                      <a:endParaRPr lang="en-US" sz="1400" dirty="0">
                        <a:latin typeface="Arial" charset="0"/>
                        <a:ea typeface="Arial" charset="0"/>
                        <a:cs typeface="Arial" charset="0"/>
                      </a:endParaRPr>
                    </a:p>
                  </a:txBody>
                  <a:tcPr marL="62230" marR="62230" marT="62230" marB="62230">
                    <a:lnL w="12700" cap="flat" cmpd="sng" algn="ctr">
                      <a:solidFill>
                        <a:srgbClr val="B9BDBF"/>
                      </a:solidFill>
                      <a:prstDash val="solid"/>
                      <a:round/>
                      <a:headEnd type="none" w="med" len="med"/>
                      <a:tailEnd type="none" w="med" len="med"/>
                    </a:lnL>
                    <a:lnR w="12700" cap="flat" cmpd="sng" algn="ctr">
                      <a:solidFill>
                        <a:srgbClr val="B9BDBF"/>
                      </a:solidFill>
                      <a:prstDash val="solid"/>
                      <a:round/>
                      <a:headEnd type="none" w="med" len="med"/>
                      <a:tailEnd type="none" w="med" len="med"/>
                    </a:lnR>
                    <a:lnT w="12700" cap="flat" cmpd="sng" algn="ctr">
                      <a:solidFill>
                        <a:srgbClr val="B9BDBF"/>
                      </a:solidFill>
                      <a:prstDash val="solid"/>
                      <a:round/>
                      <a:headEnd type="none" w="med" len="med"/>
                      <a:tailEnd type="none" w="med" len="med"/>
                    </a:lnT>
                    <a:lnB w="12700" cap="flat" cmpd="sng" algn="ctr">
                      <a:solidFill>
                        <a:srgbClr val="B9BD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37D"/>
                </a:solidFill>
                <a:latin typeface="Arial" pitchFamily="34" charset="0"/>
                <a:ea typeface="Arial" pitchFamily="34" charset="-122"/>
                <a:cs typeface="Arial" pitchFamily="34" charset="-120"/>
              </a:rPr>
              <a:t>Test set is 11 Apr to 31 Aug 2026, 143 days, 33 unsuitable. CatBoost refit on all 792 dev days, threshold 0.37 unchanged.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OPERATIONAL COSTS? ON HOLDOUT</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The model pays off once a missed day costs more</a:t>
            </a:r>
            <a:endParaRPr lang="en-US" sz="3200" dirty="0"/>
          </a:p>
        </p:txBody>
      </p:sp>
      <p:sp>
        <p:nvSpPr>
          <p:cNvPr id="4" name="Shape 2"/>
          <p:cNvSpPr/>
          <p:nvPr/>
        </p:nvSpPr>
        <p:spPr>
          <a:xfrm>
            <a:off x="812800" y="1875631"/>
            <a:ext cx="177800" cy="177800"/>
          </a:xfrm>
          <a:prstGeom prst="roundRect">
            <a:avLst>
              <a:gd name="adj" fmla="val 14286"/>
            </a:avLst>
          </a:prstGeom>
          <a:solidFill>
            <a:srgbClr val="9AA3AD"/>
          </a:solidFill>
          <a:ln/>
        </p:spPr>
        <p:txBody>
          <a:bodyPr/>
          <a:lstStyle/>
          <a:p>
            <a:endParaRPr lang="en-NZ"/>
          </a:p>
        </p:txBody>
      </p:sp>
      <p:sp>
        <p:nvSpPr>
          <p:cNvPr id="5" name="Text 3"/>
          <p:cNvSpPr/>
          <p:nvPr/>
        </p:nvSpPr>
        <p:spPr>
          <a:xfrm>
            <a:off x="1066800" y="1849041"/>
            <a:ext cx="120003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E2933"/>
                </a:solidFill>
                <a:latin typeface="Arial" pitchFamily="34" charset="0"/>
                <a:ea typeface="Arial" pitchFamily="34" charset="-122"/>
                <a:cs typeface="Arial" pitchFamily="34" charset="-120"/>
              </a:rPr>
              <a:t>Majority class</a:t>
            </a:r>
            <a:endParaRPr lang="en-US" sz="1300" dirty="0"/>
          </a:p>
        </p:txBody>
      </p:sp>
      <p:sp>
        <p:nvSpPr>
          <p:cNvPr id="6" name="Shape 4"/>
          <p:cNvSpPr/>
          <p:nvPr/>
        </p:nvSpPr>
        <p:spPr>
          <a:xfrm>
            <a:off x="2320826" y="1875631"/>
            <a:ext cx="177800" cy="177800"/>
          </a:xfrm>
          <a:prstGeom prst="roundRect">
            <a:avLst>
              <a:gd name="adj" fmla="val 14286"/>
            </a:avLst>
          </a:prstGeom>
          <a:solidFill>
            <a:srgbClr val="D9822B"/>
          </a:solidFill>
          <a:ln/>
        </p:spPr>
        <p:txBody>
          <a:bodyPr/>
          <a:lstStyle/>
          <a:p>
            <a:endParaRPr lang="en-NZ"/>
          </a:p>
        </p:txBody>
      </p:sp>
      <p:sp>
        <p:nvSpPr>
          <p:cNvPr id="7" name="Text 5"/>
          <p:cNvSpPr/>
          <p:nvPr/>
        </p:nvSpPr>
        <p:spPr>
          <a:xfrm>
            <a:off x="2574826" y="1849041"/>
            <a:ext cx="115621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E2933"/>
                </a:solidFill>
                <a:latin typeface="Arial" pitchFamily="34" charset="0"/>
                <a:ea typeface="Arial" pitchFamily="34" charset="-122"/>
                <a:cs typeface="Arial" pitchFamily="34" charset="-120"/>
              </a:rPr>
              <a:t>Forecast rule</a:t>
            </a:r>
            <a:endParaRPr lang="en-US" sz="1300" dirty="0"/>
          </a:p>
        </p:txBody>
      </p:sp>
      <p:sp>
        <p:nvSpPr>
          <p:cNvPr id="8" name="Shape 6"/>
          <p:cNvSpPr/>
          <p:nvPr/>
        </p:nvSpPr>
        <p:spPr>
          <a:xfrm>
            <a:off x="3792339" y="1875631"/>
            <a:ext cx="177800" cy="177800"/>
          </a:xfrm>
          <a:prstGeom prst="roundRect">
            <a:avLst>
              <a:gd name="adj" fmla="val 14286"/>
            </a:avLst>
          </a:prstGeom>
          <a:solidFill>
            <a:srgbClr val="2F6DB5"/>
          </a:solidFill>
          <a:ln/>
        </p:spPr>
        <p:txBody>
          <a:bodyPr/>
          <a:lstStyle/>
          <a:p>
            <a:endParaRPr lang="en-NZ"/>
          </a:p>
        </p:txBody>
      </p:sp>
      <p:sp>
        <p:nvSpPr>
          <p:cNvPr id="9" name="Text 7"/>
          <p:cNvSpPr/>
          <p:nvPr/>
        </p:nvSpPr>
        <p:spPr>
          <a:xfrm>
            <a:off x="4046339" y="1849041"/>
            <a:ext cx="8149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E2933"/>
                </a:solidFill>
                <a:latin typeface="Arial" pitchFamily="34" charset="0"/>
                <a:ea typeface="Arial" pitchFamily="34" charset="-122"/>
                <a:cs typeface="Arial" pitchFamily="34" charset="-120"/>
              </a:rPr>
              <a:t>CatBoost</a:t>
            </a:r>
            <a:endParaRPr lang="en-US" sz="1300" dirty="0"/>
          </a:p>
        </p:txBody>
      </p:sp>
      <p:sp>
        <p:nvSpPr>
          <p:cNvPr id="10" name="Shape 8"/>
          <p:cNvSpPr/>
          <p:nvPr/>
        </p:nvSpPr>
        <p:spPr>
          <a:xfrm>
            <a:off x="812800" y="5312271"/>
            <a:ext cx="10566400" cy="0"/>
          </a:xfrm>
          <a:prstGeom prst="line">
            <a:avLst/>
          </a:prstGeom>
          <a:noFill/>
          <a:ln w="12700">
            <a:solidFill>
              <a:srgbClr val="9AA3AD"/>
            </a:solidFill>
            <a:prstDash val="solid"/>
          </a:ln>
        </p:spPr>
        <p:txBody>
          <a:bodyPr/>
          <a:lstStyle/>
          <a:p>
            <a:endParaRPr lang="en-NZ"/>
          </a:p>
        </p:txBody>
      </p:sp>
      <p:sp>
        <p:nvSpPr>
          <p:cNvPr id="11" name="Text 9"/>
          <p:cNvSpPr/>
          <p:nvPr/>
        </p:nvSpPr>
        <p:spPr>
          <a:xfrm>
            <a:off x="1511875" y="4527451"/>
            <a:ext cx="54911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E2933"/>
                </a:solidFill>
                <a:latin typeface="Arial" pitchFamily="34" charset="0"/>
                <a:ea typeface="Arial" pitchFamily="34" charset="-122"/>
                <a:cs typeface="Arial" pitchFamily="34" charset="-120"/>
              </a:rPr>
              <a:t>$16.5k</a:t>
            </a:r>
            <a:endParaRPr lang="en-US" sz="1200" dirty="0"/>
          </a:p>
        </p:txBody>
      </p:sp>
      <p:sp>
        <p:nvSpPr>
          <p:cNvPr id="12" name="Shape 10"/>
          <p:cNvSpPr/>
          <p:nvPr/>
        </p:nvSpPr>
        <p:spPr>
          <a:xfrm>
            <a:off x="1405434" y="4791571"/>
            <a:ext cx="762000" cy="514350"/>
          </a:xfrm>
          <a:custGeom>
            <a:avLst/>
            <a:gdLst/>
            <a:ahLst/>
            <a:cxnLst/>
            <a:rect l="l" t="t" r="r" b="b"/>
            <a:pathLst>
              <a:path w="762000" h="514350">
                <a:moveTo>
                  <a:pt x="25400" y="0"/>
                </a:moveTo>
                <a:lnTo>
                  <a:pt x="736600" y="0"/>
                </a:lnTo>
                <a:arcTo wR="25400" hR="25400" stAng="16200000" swAng="5400000"/>
                <a:lnTo>
                  <a:pt x="762000" y="514350"/>
                </a:lnTo>
                <a:lnTo>
                  <a:pt x="0" y="514350"/>
                </a:lnTo>
                <a:lnTo>
                  <a:pt x="0" y="25400"/>
                </a:lnTo>
                <a:arcTo wR="25400" hR="25400" stAng="10800000" swAng="5400000"/>
                <a:close/>
              </a:path>
            </a:pathLst>
          </a:custGeom>
          <a:solidFill>
            <a:srgbClr val="9AA3AD"/>
          </a:solidFill>
          <a:ln/>
        </p:spPr>
        <p:txBody>
          <a:bodyPr/>
          <a:lstStyle/>
          <a:p>
            <a:endParaRPr lang="en-NZ"/>
          </a:p>
        </p:txBody>
      </p:sp>
      <p:sp>
        <p:nvSpPr>
          <p:cNvPr id="13" name="Text 11"/>
          <p:cNvSpPr/>
          <p:nvPr/>
        </p:nvSpPr>
        <p:spPr>
          <a:xfrm>
            <a:off x="2299275" y="4527451"/>
            <a:ext cx="54911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E2933"/>
                </a:solidFill>
                <a:latin typeface="Arial" pitchFamily="34" charset="0"/>
                <a:ea typeface="Arial" pitchFamily="34" charset="-122"/>
                <a:cs typeface="Arial" pitchFamily="34" charset="-120"/>
              </a:rPr>
              <a:t>$16.5k</a:t>
            </a:r>
            <a:endParaRPr lang="en-US" sz="1200" dirty="0"/>
          </a:p>
        </p:txBody>
      </p:sp>
      <p:sp>
        <p:nvSpPr>
          <p:cNvPr id="14" name="Shape 12"/>
          <p:cNvSpPr/>
          <p:nvPr/>
        </p:nvSpPr>
        <p:spPr>
          <a:xfrm>
            <a:off x="2192834" y="4791571"/>
            <a:ext cx="762000" cy="514350"/>
          </a:xfrm>
          <a:custGeom>
            <a:avLst/>
            <a:gdLst/>
            <a:ahLst/>
            <a:cxnLst/>
            <a:rect l="l" t="t" r="r" b="b"/>
            <a:pathLst>
              <a:path w="762000" h="514350">
                <a:moveTo>
                  <a:pt x="25400" y="0"/>
                </a:moveTo>
                <a:lnTo>
                  <a:pt x="736600" y="0"/>
                </a:lnTo>
                <a:arcTo wR="25400" hR="25400" stAng="16200000" swAng="5400000"/>
                <a:lnTo>
                  <a:pt x="762000" y="514350"/>
                </a:lnTo>
                <a:lnTo>
                  <a:pt x="0" y="514350"/>
                </a:lnTo>
                <a:lnTo>
                  <a:pt x="0" y="25400"/>
                </a:lnTo>
                <a:arcTo wR="25400" hR="25400" stAng="10800000" swAng="5400000"/>
                <a:close/>
              </a:path>
            </a:pathLst>
          </a:custGeom>
          <a:solidFill>
            <a:srgbClr val="D9822B"/>
          </a:solidFill>
          <a:ln/>
        </p:spPr>
        <p:txBody>
          <a:bodyPr/>
          <a:lstStyle/>
          <a:p>
            <a:endParaRPr lang="en-NZ"/>
          </a:p>
        </p:txBody>
      </p:sp>
      <p:sp>
        <p:nvSpPr>
          <p:cNvPr id="15" name="Text 13"/>
          <p:cNvSpPr/>
          <p:nvPr/>
        </p:nvSpPr>
        <p:spPr>
          <a:xfrm>
            <a:off x="3086675" y="4483001"/>
            <a:ext cx="54911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E2933"/>
                </a:solidFill>
                <a:latin typeface="Arial" pitchFamily="34" charset="0"/>
                <a:ea typeface="Arial" pitchFamily="34" charset="-122"/>
                <a:cs typeface="Arial" pitchFamily="34" charset="-120"/>
              </a:rPr>
              <a:t>$18.0k</a:t>
            </a:r>
            <a:endParaRPr lang="en-US" sz="1200" dirty="0"/>
          </a:p>
        </p:txBody>
      </p:sp>
      <p:sp>
        <p:nvSpPr>
          <p:cNvPr id="16" name="Shape 14"/>
          <p:cNvSpPr/>
          <p:nvPr/>
        </p:nvSpPr>
        <p:spPr>
          <a:xfrm>
            <a:off x="2980234" y="4747121"/>
            <a:ext cx="762000" cy="558800"/>
          </a:xfrm>
          <a:custGeom>
            <a:avLst/>
            <a:gdLst/>
            <a:ahLst/>
            <a:cxnLst/>
            <a:rect l="l" t="t" r="r" b="b"/>
            <a:pathLst>
              <a:path w="762000" h="558800">
                <a:moveTo>
                  <a:pt x="25400" y="0"/>
                </a:moveTo>
                <a:lnTo>
                  <a:pt x="736600" y="0"/>
                </a:lnTo>
                <a:arcTo wR="25400" hR="25400" stAng="16200000" swAng="5400000"/>
                <a:lnTo>
                  <a:pt x="762000" y="558800"/>
                </a:lnTo>
                <a:lnTo>
                  <a:pt x="0" y="558800"/>
                </a:lnTo>
                <a:lnTo>
                  <a:pt x="0" y="25400"/>
                </a:lnTo>
                <a:arcTo wR="25400" hR="25400" stAng="10800000" swAng="5400000"/>
                <a:close/>
              </a:path>
            </a:pathLst>
          </a:custGeom>
          <a:solidFill>
            <a:srgbClr val="2F6DB5"/>
          </a:solidFill>
          <a:ln/>
        </p:spPr>
        <p:txBody>
          <a:bodyPr/>
          <a:lstStyle/>
          <a:p>
            <a:endParaRPr lang="en-NZ"/>
          </a:p>
        </p:txBody>
      </p:sp>
      <p:sp>
        <p:nvSpPr>
          <p:cNvPr id="17" name="Text 15"/>
          <p:cNvSpPr/>
          <p:nvPr/>
        </p:nvSpPr>
        <p:spPr>
          <a:xfrm>
            <a:off x="5034042" y="3505101"/>
            <a:ext cx="54911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E2933"/>
                </a:solidFill>
                <a:latin typeface="Arial" pitchFamily="34" charset="0"/>
                <a:ea typeface="Arial" pitchFamily="34" charset="-122"/>
                <a:cs typeface="Arial" pitchFamily="34" charset="-120"/>
              </a:rPr>
              <a:t>$49.5k</a:t>
            </a:r>
            <a:endParaRPr lang="en-US" sz="1200" dirty="0"/>
          </a:p>
        </p:txBody>
      </p:sp>
      <p:sp>
        <p:nvSpPr>
          <p:cNvPr id="18" name="Shape 16"/>
          <p:cNvSpPr/>
          <p:nvPr/>
        </p:nvSpPr>
        <p:spPr>
          <a:xfrm>
            <a:off x="4927600" y="3769221"/>
            <a:ext cx="762000" cy="1536700"/>
          </a:xfrm>
          <a:custGeom>
            <a:avLst/>
            <a:gdLst/>
            <a:ahLst/>
            <a:cxnLst/>
            <a:rect l="l" t="t" r="r" b="b"/>
            <a:pathLst>
              <a:path w="762000" h="1536700">
                <a:moveTo>
                  <a:pt x="25400" y="0"/>
                </a:moveTo>
                <a:lnTo>
                  <a:pt x="736600" y="0"/>
                </a:lnTo>
                <a:arcTo wR="25400" hR="25400" stAng="16200000" swAng="5400000"/>
                <a:lnTo>
                  <a:pt x="762000" y="1536700"/>
                </a:lnTo>
                <a:lnTo>
                  <a:pt x="0" y="1536700"/>
                </a:lnTo>
                <a:lnTo>
                  <a:pt x="0" y="25400"/>
                </a:lnTo>
                <a:arcTo wR="25400" hR="25400" stAng="10800000" swAng="5400000"/>
                <a:close/>
              </a:path>
            </a:pathLst>
          </a:custGeom>
          <a:solidFill>
            <a:srgbClr val="9AA3AD"/>
          </a:solidFill>
          <a:ln/>
        </p:spPr>
        <p:txBody>
          <a:bodyPr/>
          <a:lstStyle/>
          <a:p>
            <a:endParaRPr lang="en-NZ"/>
          </a:p>
        </p:txBody>
      </p:sp>
      <p:sp>
        <p:nvSpPr>
          <p:cNvPr id="19" name="Text 17"/>
          <p:cNvSpPr/>
          <p:nvPr/>
        </p:nvSpPr>
        <p:spPr>
          <a:xfrm>
            <a:off x="5821442" y="3968651"/>
            <a:ext cx="54911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E2933"/>
                </a:solidFill>
                <a:latin typeface="Arial" pitchFamily="34" charset="0"/>
                <a:ea typeface="Arial" pitchFamily="34" charset="-122"/>
                <a:cs typeface="Arial" pitchFamily="34" charset="-120"/>
              </a:rPr>
              <a:t>$34.5k</a:t>
            </a:r>
            <a:endParaRPr lang="en-US" sz="1200" dirty="0"/>
          </a:p>
        </p:txBody>
      </p:sp>
      <p:sp>
        <p:nvSpPr>
          <p:cNvPr id="20" name="Shape 18"/>
          <p:cNvSpPr/>
          <p:nvPr/>
        </p:nvSpPr>
        <p:spPr>
          <a:xfrm>
            <a:off x="5715000" y="4232771"/>
            <a:ext cx="762000" cy="1073150"/>
          </a:xfrm>
          <a:custGeom>
            <a:avLst/>
            <a:gdLst/>
            <a:ahLst/>
            <a:cxnLst/>
            <a:rect l="l" t="t" r="r" b="b"/>
            <a:pathLst>
              <a:path w="762000" h="1073150">
                <a:moveTo>
                  <a:pt x="25400" y="0"/>
                </a:moveTo>
                <a:lnTo>
                  <a:pt x="736600" y="0"/>
                </a:lnTo>
                <a:arcTo wR="25400" hR="25400" stAng="16200000" swAng="5400000"/>
                <a:lnTo>
                  <a:pt x="762000" y="1073150"/>
                </a:lnTo>
                <a:lnTo>
                  <a:pt x="0" y="1073150"/>
                </a:lnTo>
                <a:lnTo>
                  <a:pt x="0" y="25400"/>
                </a:lnTo>
                <a:arcTo wR="25400" hR="25400" stAng="10800000" swAng="5400000"/>
                <a:close/>
              </a:path>
            </a:pathLst>
          </a:custGeom>
          <a:solidFill>
            <a:srgbClr val="D9822B"/>
          </a:solidFill>
          <a:ln/>
        </p:spPr>
        <p:txBody>
          <a:bodyPr/>
          <a:lstStyle/>
          <a:p>
            <a:endParaRPr lang="en-NZ"/>
          </a:p>
        </p:txBody>
      </p:sp>
      <p:sp>
        <p:nvSpPr>
          <p:cNvPr id="21" name="Text 19"/>
          <p:cNvSpPr/>
          <p:nvPr/>
        </p:nvSpPr>
        <p:spPr>
          <a:xfrm>
            <a:off x="6603722" y="4140101"/>
            <a:ext cx="559356"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E2933"/>
                </a:solidFill>
                <a:latin typeface="Arial" pitchFamily="34" charset="0"/>
                <a:ea typeface="Arial" pitchFamily="34" charset="-122"/>
                <a:cs typeface="Arial" pitchFamily="34" charset="-120"/>
              </a:rPr>
              <a:t>$29.0k</a:t>
            </a:r>
            <a:endParaRPr lang="en-US" sz="1200" dirty="0"/>
          </a:p>
        </p:txBody>
      </p:sp>
      <p:sp>
        <p:nvSpPr>
          <p:cNvPr id="22" name="Shape 20"/>
          <p:cNvSpPr/>
          <p:nvPr/>
        </p:nvSpPr>
        <p:spPr>
          <a:xfrm>
            <a:off x="6502400" y="4404221"/>
            <a:ext cx="762000" cy="901700"/>
          </a:xfrm>
          <a:custGeom>
            <a:avLst/>
            <a:gdLst/>
            <a:ahLst/>
            <a:cxnLst/>
            <a:rect l="l" t="t" r="r" b="b"/>
            <a:pathLst>
              <a:path w="762000" h="901700">
                <a:moveTo>
                  <a:pt x="25400" y="0"/>
                </a:moveTo>
                <a:lnTo>
                  <a:pt x="736600" y="0"/>
                </a:lnTo>
                <a:arcTo wR="25400" hR="25400" stAng="16200000" swAng="5400000"/>
                <a:lnTo>
                  <a:pt x="762000" y="901700"/>
                </a:lnTo>
                <a:lnTo>
                  <a:pt x="0" y="901700"/>
                </a:lnTo>
                <a:lnTo>
                  <a:pt x="0" y="25400"/>
                </a:lnTo>
                <a:arcTo wR="25400" hR="25400" stAng="10800000" swAng="5400000"/>
                <a:close/>
              </a:path>
            </a:pathLst>
          </a:custGeom>
          <a:solidFill>
            <a:srgbClr val="2F6DB5"/>
          </a:solidFill>
          <a:ln/>
        </p:spPr>
        <p:txBody>
          <a:bodyPr/>
          <a:lstStyle/>
          <a:p>
            <a:endParaRPr lang="en-NZ"/>
          </a:p>
        </p:txBody>
      </p:sp>
      <p:sp>
        <p:nvSpPr>
          <p:cNvPr id="23" name="Text 21"/>
          <p:cNvSpPr/>
          <p:nvPr/>
        </p:nvSpPr>
        <p:spPr>
          <a:xfrm>
            <a:off x="8556109" y="2482751"/>
            <a:ext cx="54911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E2933"/>
                </a:solidFill>
                <a:latin typeface="Arial" pitchFamily="34" charset="0"/>
                <a:ea typeface="Arial" pitchFamily="34" charset="-122"/>
                <a:cs typeface="Arial" pitchFamily="34" charset="-120"/>
              </a:rPr>
              <a:t>$82.5k</a:t>
            </a:r>
            <a:endParaRPr lang="en-US" sz="1200" dirty="0"/>
          </a:p>
        </p:txBody>
      </p:sp>
      <p:sp>
        <p:nvSpPr>
          <p:cNvPr id="24" name="Shape 22"/>
          <p:cNvSpPr/>
          <p:nvPr/>
        </p:nvSpPr>
        <p:spPr>
          <a:xfrm>
            <a:off x="8449667" y="2746871"/>
            <a:ext cx="762000" cy="2559050"/>
          </a:xfrm>
          <a:custGeom>
            <a:avLst/>
            <a:gdLst/>
            <a:ahLst/>
            <a:cxnLst/>
            <a:rect l="l" t="t" r="r" b="b"/>
            <a:pathLst>
              <a:path w="762000" h="2559050">
                <a:moveTo>
                  <a:pt x="25400" y="0"/>
                </a:moveTo>
                <a:lnTo>
                  <a:pt x="736600" y="0"/>
                </a:lnTo>
                <a:arcTo wR="25400" hR="25400" stAng="16200000" swAng="5400000"/>
                <a:lnTo>
                  <a:pt x="762000" y="2559050"/>
                </a:lnTo>
                <a:lnTo>
                  <a:pt x="0" y="2559050"/>
                </a:lnTo>
                <a:lnTo>
                  <a:pt x="0" y="25400"/>
                </a:lnTo>
                <a:arcTo wR="25400" hR="25400" stAng="10800000" swAng="5400000"/>
                <a:close/>
              </a:path>
            </a:pathLst>
          </a:custGeom>
          <a:solidFill>
            <a:srgbClr val="9AA3AD"/>
          </a:solidFill>
          <a:ln/>
        </p:spPr>
        <p:txBody>
          <a:bodyPr/>
          <a:lstStyle/>
          <a:p>
            <a:endParaRPr lang="en-NZ"/>
          </a:p>
        </p:txBody>
      </p:sp>
      <p:sp>
        <p:nvSpPr>
          <p:cNvPr id="25" name="Text 23"/>
          <p:cNvSpPr/>
          <p:nvPr/>
        </p:nvSpPr>
        <p:spPr>
          <a:xfrm>
            <a:off x="9343509" y="3416201"/>
            <a:ext cx="54911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E2933"/>
                </a:solidFill>
                <a:latin typeface="Arial" pitchFamily="34" charset="0"/>
                <a:ea typeface="Arial" pitchFamily="34" charset="-122"/>
                <a:cs typeface="Arial" pitchFamily="34" charset="-120"/>
              </a:rPr>
              <a:t>$52.5k</a:t>
            </a:r>
            <a:endParaRPr lang="en-US" sz="1200" dirty="0"/>
          </a:p>
        </p:txBody>
      </p:sp>
      <p:sp>
        <p:nvSpPr>
          <p:cNvPr id="26" name="Shape 24"/>
          <p:cNvSpPr/>
          <p:nvPr/>
        </p:nvSpPr>
        <p:spPr>
          <a:xfrm>
            <a:off x="9237067" y="3680321"/>
            <a:ext cx="762000" cy="1625600"/>
          </a:xfrm>
          <a:custGeom>
            <a:avLst/>
            <a:gdLst/>
            <a:ahLst/>
            <a:cxnLst/>
            <a:rect l="l" t="t" r="r" b="b"/>
            <a:pathLst>
              <a:path w="762000" h="1625600">
                <a:moveTo>
                  <a:pt x="25400" y="0"/>
                </a:moveTo>
                <a:lnTo>
                  <a:pt x="736600" y="0"/>
                </a:lnTo>
                <a:arcTo wR="25400" hR="25400" stAng="16200000" swAng="5400000"/>
                <a:lnTo>
                  <a:pt x="762000" y="1625600"/>
                </a:lnTo>
                <a:lnTo>
                  <a:pt x="0" y="1625600"/>
                </a:lnTo>
                <a:lnTo>
                  <a:pt x="0" y="25400"/>
                </a:lnTo>
                <a:arcTo wR="25400" hR="25400" stAng="10800000" swAng="5400000"/>
                <a:close/>
              </a:path>
            </a:pathLst>
          </a:custGeom>
          <a:solidFill>
            <a:srgbClr val="D9822B"/>
          </a:solidFill>
          <a:ln/>
        </p:spPr>
        <p:txBody>
          <a:bodyPr/>
          <a:lstStyle/>
          <a:p>
            <a:endParaRPr lang="en-NZ"/>
          </a:p>
        </p:txBody>
      </p:sp>
      <p:sp>
        <p:nvSpPr>
          <p:cNvPr id="27" name="Text 25"/>
          <p:cNvSpPr/>
          <p:nvPr/>
        </p:nvSpPr>
        <p:spPr>
          <a:xfrm>
            <a:off x="10125789" y="3803551"/>
            <a:ext cx="559356"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E2933"/>
                </a:solidFill>
                <a:latin typeface="Arial" pitchFamily="34" charset="0"/>
                <a:ea typeface="Arial" pitchFamily="34" charset="-122"/>
                <a:cs typeface="Arial" pitchFamily="34" charset="-120"/>
              </a:rPr>
              <a:t>$40.0k</a:t>
            </a:r>
            <a:endParaRPr lang="en-US" sz="1200" dirty="0"/>
          </a:p>
        </p:txBody>
      </p:sp>
      <p:sp>
        <p:nvSpPr>
          <p:cNvPr id="28" name="Shape 26"/>
          <p:cNvSpPr/>
          <p:nvPr/>
        </p:nvSpPr>
        <p:spPr>
          <a:xfrm>
            <a:off x="10024467" y="4067671"/>
            <a:ext cx="762000" cy="1238250"/>
          </a:xfrm>
          <a:custGeom>
            <a:avLst/>
            <a:gdLst/>
            <a:ahLst/>
            <a:cxnLst/>
            <a:rect l="l" t="t" r="r" b="b"/>
            <a:pathLst>
              <a:path w="762000" h="1238250">
                <a:moveTo>
                  <a:pt x="25400" y="0"/>
                </a:moveTo>
                <a:lnTo>
                  <a:pt x="736600" y="0"/>
                </a:lnTo>
                <a:arcTo wR="25400" hR="25400" stAng="16200000" swAng="5400000"/>
                <a:lnTo>
                  <a:pt x="762000" y="1238250"/>
                </a:lnTo>
                <a:lnTo>
                  <a:pt x="0" y="1238250"/>
                </a:lnTo>
                <a:lnTo>
                  <a:pt x="0" y="25400"/>
                </a:lnTo>
                <a:arcTo wR="25400" hR="25400" stAng="10800000" swAng="5400000"/>
                <a:close/>
              </a:path>
            </a:pathLst>
          </a:custGeom>
          <a:solidFill>
            <a:srgbClr val="2F6DB5"/>
          </a:solidFill>
          <a:ln/>
        </p:spPr>
        <p:txBody>
          <a:bodyPr/>
          <a:lstStyle/>
          <a:p>
            <a:endParaRPr lang="en-NZ"/>
          </a:p>
        </p:txBody>
      </p:sp>
      <p:sp>
        <p:nvSpPr>
          <p:cNvPr id="29" name="Text 27"/>
          <p:cNvSpPr/>
          <p:nvPr/>
        </p:nvSpPr>
        <p:spPr>
          <a:xfrm>
            <a:off x="1370382" y="5572621"/>
            <a:ext cx="2406904"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1E2933"/>
                </a:solidFill>
                <a:latin typeface="Arial" pitchFamily="34" charset="0"/>
                <a:ea typeface="Arial" pitchFamily="34" charset="-122"/>
                <a:cs typeface="Arial" pitchFamily="34" charset="-120"/>
              </a:rPr>
              <a:t>Equal (1:1): model 9% dearer</a:t>
            </a:r>
            <a:endParaRPr lang="en-US" sz="1300" dirty="0"/>
          </a:p>
        </p:txBody>
      </p:sp>
      <p:sp>
        <p:nvSpPr>
          <p:cNvPr id="30" name="Text 28"/>
          <p:cNvSpPr/>
          <p:nvPr/>
        </p:nvSpPr>
        <p:spPr>
          <a:xfrm>
            <a:off x="4892548" y="5572621"/>
            <a:ext cx="2406904"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1E2933"/>
                </a:solidFill>
                <a:latin typeface="Arial" pitchFamily="34" charset="0"/>
                <a:ea typeface="Arial" pitchFamily="34" charset="-122"/>
                <a:cs typeface="Arial" pitchFamily="34" charset="-120"/>
              </a:rPr>
              <a:t>3:1: model 16% cheaper</a:t>
            </a:r>
            <a:endParaRPr lang="en-US" sz="1300" dirty="0"/>
          </a:p>
        </p:txBody>
      </p:sp>
      <p:sp>
        <p:nvSpPr>
          <p:cNvPr id="31" name="Text 29"/>
          <p:cNvSpPr/>
          <p:nvPr/>
        </p:nvSpPr>
        <p:spPr>
          <a:xfrm>
            <a:off x="8414615" y="5572621"/>
            <a:ext cx="2406904"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1E2933"/>
                </a:solidFill>
                <a:latin typeface="Arial" pitchFamily="34" charset="0"/>
                <a:ea typeface="Arial" pitchFamily="34" charset="-122"/>
                <a:cs typeface="Arial" pitchFamily="34" charset="-120"/>
              </a:rPr>
              <a:t>5:1: model 24% cheaper</a:t>
            </a:r>
            <a:endParaRPr lang="en-US" sz="1300" dirty="0"/>
          </a:p>
        </p:txBody>
      </p:sp>
      <p:sp>
        <p:nvSpPr>
          <p:cNvPr id="32" name="Text 3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37D"/>
                </a:solidFill>
                <a:latin typeface="Arial" pitchFamily="34" charset="0"/>
                <a:ea typeface="Arial" pitchFamily="34" charset="-122"/>
                <a:cs typeface="Arial" pitchFamily="34" charset="-120"/>
              </a:rPr>
              <a:t>Example costs: $500 per false alarm. $500, $1,500 or $2,500 per missed day. Comparisons are vs the forecast rule, 143 test days.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EDF0"/>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7367"/>
          </a:xfrm>
          <a:prstGeom prst="rect">
            <a:avLst/>
          </a:prstGeom>
          <a:noFill/>
          <a:ln/>
        </p:spPr>
        <p:txBody>
          <a:bodyPr wrap="square" lIns="0" tIns="0" rIns="0" bIns="0" rtlCol="0" anchor="t">
            <a:normAutofit/>
          </a:bodyPr>
          <a:lstStyle/>
          <a:p>
            <a:pPr marL="0" indent="0" algn="l">
              <a:lnSpc>
                <a:spcPts val="1470"/>
              </a:lnSpc>
              <a:buNone/>
            </a:pPr>
            <a:r>
              <a:rPr lang="en-US" sz="1050" b="1" kern="0" spc="150" dirty="0">
                <a:solidFill>
                  <a:srgbClr val="2F6DB5"/>
                </a:solidFill>
                <a:latin typeface="Arial" pitchFamily="34" charset="0"/>
                <a:ea typeface="Arial" pitchFamily="34" charset="-122"/>
                <a:cs typeface="Arial" pitchFamily="34" charset="-120"/>
              </a:rPr>
              <a:t>DECISION SUPPORT STREAMLIT APP</a:t>
            </a:r>
            <a:endParaRPr lang="en-US" sz="1050" dirty="0"/>
          </a:p>
        </p:txBody>
      </p:sp>
      <p:sp>
        <p:nvSpPr>
          <p:cNvPr id="3" name="Text 1"/>
          <p:cNvSpPr>
            <a:spLocks noGrp="1"/>
          </p:cNvSpPr>
          <p:nvPr>
            <p:ph type="title"/>
          </p:nvPr>
        </p:nvSpPr>
        <p:spPr>
          <a:xfrm>
            <a:off x="812800" y="1096367"/>
            <a:ext cx="11379200" cy="822623"/>
          </a:xfrm>
          <a:prstGeom prst="rect">
            <a:avLst/>
          </a:prstGeom>
          <a:noFill/>
          <a:ln/>
        </p:spPr>
        <p:txBody>
          <a:bodyPr wrap="square" lIns="0" tIns="0" rIns="0" bIns="0" rtlCol="0" anchor="t">
            <a:normAutofit/>
          </a:bodyPr>
          <a:lstStyle/>
          <a:p>
            <a:pPr marL="0" indent="0" algn="l">
              <a:lnSpc>
                <a:spcPts val="3577"/>
              </a:lnSpc>
              <a:buNone/>
            </a:pPr>
            <a:r>
              <a:rPr lang="en-US" sz="3110" b="1" i="0" dirty="0">
                <a:solidFill>
                  <a:srgbClr val="1E2933"/>
                </a:solidFill>
                <a:latin typeface="Georgia" pitchFamily="18" charset="0"/>
                <a:ea typeface="Georgia" pitchFamily="18" charset="-122"/>
                <a:cs typeface="Georgia" pitchFamily="18" charset="-120"/>
              </a:rPr>
              <a:t>From forecast to a plan, with the baseline beside it</a:t>
            </a:r>
            <a:endParaRPr lang="en-US" sz="3110" dirty="0"/>
          </a:p>
        </p:txBody>
      </p:sp>
      <p:sp>
        <p:nvSpPr>
          <p:cNvPr id="4" name="Shape 2"/>
          <p:cNvSpPr/>
          <p:nvPr/>
        </p:nvSpPr>
        <p:spPr>
          <a:xfrm>
            <a:off x="812800" y="2198390"/>
            <a:ext cx="3420467" cy="1329630"/>
          </a:xfrm>
          <a:prstGeom prst="roundRect">
            <a:avLst>
              <a:gd name="adj" fmla="val 7641"/>
            </a:avLst>
          </a:prstGeom>
          <a:solidFill>
            <a:srgbClr val="FFFFFF"/>
          </a:solidFill>
          <a:ln/>
        </p:spPr>
        <p:txBody>
          <a:bodyPr/>
          <a:lstStyle/>
          <a:p>
            <a:endParaRPr lang="en-NZ"/>
          </a:p>
        </p:txBody>
      </p:sp>
      <p:sp>
        <p:nvSpPr>
          <p:cNvPr id="5" name="Text 3"/>
          <p:cNvSpPr/>
          <p:nvPr/>
        </p:nvSpPr>
        <p:spPr>
          <a:xfrm>
            <a:off x="1016000" y="2401590"/>
            <a:ext cx="3104489" cy="175320"/>
          </a:xfrm>
          <a:prstGeom prst="rect">
            <a:avLst/>
          </a:prstGeom>
          <a:noFill/>
          <a:ln/>
        </p:spPr>
        <p:txBody>
          <a:bodyPr wrap="square" lIns="0" tIns="0" rIns="0" bIns="0" rtlCol="0" anchor="t">
            <a:normAutofit/>
          </a:bodyPr>
          <a:lstStyle/>
          <a:p>
            <a:pPr marL="0" indent="0" algn="l">
              <a:lnSpc>
                <a:spcPts val="1223"/>
              </a:lnSpc>
              <a:buNone/>
            </a:pPr>
            <a:r>
              <a:rPr lang="en-US" sz="1050" b="1" dirty="0">
                <a:solidFill>
                  <a:srgbClr val="2F6DB5"/>
                </a:solidFill>
                <a:latin typeface="Arial" pitchFamily="34" charset="0"/>
                <a:ea typeface="Arial" pitchFamily="34" charset="-122"/>
                <a:cs typeface="Arial" pitchFamily="34" charset="-120"/>
              </a:rPr>
              <a:t>ASSESS</a:t>
            </a:r>
            <a:endParaRPr lang="en-US" sz="1050" dirty="0"/>
          </a:p>
        </p:txBody>
      </p:sp>
      <p:sp>
        <p:nvSpPr>
          <p:cNvPr id="6" name="Text 4"/>
          <p:cNvSpPr/>
          <p:nvPr/>
        </p:nvSpPr>
        <p:spPr>
          <a:xfrm>
            <a:off x="1016000" y="2627709"/>
            <a:ext cx="3104489" cy="196652"/>
          </a:xfrm>
          <a:prstGeom prst="rect">
            <a:avLst/>
          </a:prstGeom>
          <a:noFill/>
          <a:ln/>
        </p:spPr>
        <p:txBody>
          <a:bodyPr wrap="square" lIns="0" tIns="0" rIns="0" bIns="0" rtlCol="0" anchor="t">
            <a:normAutofit/>
          </a:bodyPr>
          <a:lstStyle/>
          <a:p>
            <a:pPr marL="0" indent="0" algn="l">
              <a:lnSpc>
                <a:spcPts val="1374"/>
              </a:lnSpc>
              <a:buNone/>
            </a:pPr>
            <a:r>
              <a:rPr lang="en-US" sz="1145" b="1" dirty="0">
                <a:solidFill>
                  <a:srgbClr val="1E2933"/>
                </a:solidFill>
                <a:latin typeface="Arial" pitchFamily="34" charset="0"/>
                <a:ea typeface="Arial" pitchFamily="34" charset="-122"/>
                <a:cs typeface="Arial" pitchFamily="34" charset="-120"/>
              </a:rPr>
              <a:t>One market day</a:t>
            </a:r>
            <a:endParaRPr lang="en-US" sz="1145" dirty="0"/>
          </a:p>
        </p:txBody>
      </p:sp>
      <p:sp>
        <p:nvSpPr>
          <p:cNvPr id="7" name="Text 5"/>
          <p:cNvSpPr/>
          <p:nvPr/>
        </p:nvSpPr>
        <p:spPr>
          <a:xfrm>
            <a:off x="1016000" y="2875161"/>
            <a:ext cx="3104489" cy="475059"/>
          </a:xfrm>
          <a:prstGeom prst="rect">
            <a:avLst/>
          </a:prstGeom>
          <a:noFill/>
          <a:ln/>
        </p:spPr>
        <p:txBody>
          <a:bodyPr wrap="square" lIns="0" tIns="0" rIns="0" bIns="0" rtlCol="0" anchor="t">
            <a:normAutofit/>
          </a:bodyPr>
          <a:lstStyle/>
          <a:p>
            <a:pPr marL="0" indent="0" algn="l">
              <a:lnSpc>
                <a:spcPts val="1627"/>
              </a:lnSpc>
              <a:buNone/>
            </a:pPr>
            <a:r>
              <a:rPr lang="en-US" sz="1163" dirty="0">
                <a:solidFill>
                  <a:srgbClr val="4A5563"/>
                </a:solidFill>
                <a:latin typeface="Arial" pitchFamily="34" charset="0"/>
                <a:ea typeface="Arial" pitchFamily="34" charset="-122"/>
                <a:cs typeface="Arial" pitchFamily="34" charset="-120"/>
              </a:rPr>
              <a:t>Rain and max wind in; probability, the model's threshold, risk bar and a recommendation out.</a:t>
            </a:r>
            <a:endParaRPr lang="en-US" sz="1163" dirty="0"/>
          </a:p>
        </p:txBody>
      </p:sp>
      <p:sp>
        <p:nvSpPr>
          <p:cNvPr id="8" name="Shape 6"/>
          <p:cNvSpPr/>
          <p:nvPr/>
        </p:nvSpPr>
        <p:spPr>
          <a:xfrm>
            <a:off x="4385667" y="2198390"/>
            <a:ext cx="3420566" cy="1329630"/>
          </a:xfrm>
          <a:prstGeom prst="roundRect">
            <a:avLst>
              <a:gd name="adj" fmla="val 7641"/>
            </a:avLst>
          </a:prstGeom>
          <a:solidFill>
            <a:srgbClr val="FFFFFF"/>
          </a:solidFill>
          <a:ln/>
        </p:spPr>
        <p:txBody>
          <a:bodyPr/>
          <a:lstStyle/>
          <a:p>
            <a:endParaRPr lang="en-NZ"/>
          </a:p>
        </p:txBody>
      </p:sp>
      <p:sp>
        <p:nvSpPr>
          <p:cNvPr id="9" name="Text 7"/>
          <p:cNvSpPr/>
          <p:nvPr/>
        </p:nvSpPr>
        <p:spPr>
          <a:xfrm>
            <a:off x="4588867" y="2401590"/>
            <a:ext cx="3104591" cy="211534"/>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2F6DB5"/>
                </a:solidFill>
                <a:latin typeface="Arial" pitchFamily="34" charset="0"/>
                <a:ea typeface="Arial" pitchFamily="34" charset="-122"/>
                <a:cs typeface="Arial" pitchFamily="34" charset="-120"/>
              </a:rPr>
              <a:t>COMPARE</a:t>
            </a:r>
            <a:endParaRPr lang="en-US" sz="1050" dirty="0"/>
          </a:p>
        </p:txBody>
      </p:sp>
      <p:sp>
        <p:nvSpPr>
          <p:cNvPr id="10" name="Text 8"/>
          <p:cNvSpPr/>
          <p:nvPr/>
        </p:nvSpPr>
        <p:spPr>
          <a:xfrm>
            <a:off x="4588867" y="2663924"/>
            <a:ext cx="3104591" cy="237927"/>
          </a:xfrm>
          <a:prstGeom prst="rect">
            <a:avLst/>
          </a:prstGeom>
          <a:noFill/>
          <a:ln/>
        </p:spPr>
        <p:txBody>
          <a:bodyPr wrap="square" lIns="0" tIns="0" rIns="0" bIns="0" rtlCol="0" anchor="t">
            <a:normAutofit/>
          </a:bodyPr>
          <a:lstStyle/>
          <a:p>
            <a:pPr marL="0" indent="0" algn="l">
              <a:lnSpc>
                <a:spcPts val="1674"/>
              </a:lnSpc>
              <a:buNone/>
            </a:pPr>
            <a:r>
              <a:rPr lang="en-US" sz="1395" b="1" dirty="0">
                <a:solidFill>
                  <a:srgbClr val="1E2933"/>
                </a:solidFill>
                <a:latin typeface="Arial" pitchFamily="34" charset="0"/>
                <a:ea typeface="Arial" pitchFamily="34" charset="-122"/>
                <a:cs typeface="Arial" pitchFamily="34" charset="-120"/>
              </a:rPr>
              <a:t>Baseline check</a:t>
            </a:r>
            <a:endParaRPr lang="en-US" sz="1395" dirty="0"/>
          </a:p>
        </p:txBody>
      </p:sp>
      <p:sp>
        <p:nvSpPr>
          <p:cNvPr id="11" name="Text 9"/>
          <p:cNvSpPr/>
          <p:nvPr/>
        </p:nvSpPr>
        <p:spPr>
          <a:xfrm>
            <a:off x="4588867" y="2952651"/>
            <a:ext cx="3104591" cy="397570"/>
          </a:xfrm>
          <a:prstGeom prst="rect">
            <a:avLst/>
          </a:prstGeom>
          <a:noFill/>
          <a:ln/>
        </p:spPr>
        <p:txBody>
          <a:bodyPr wrap="square" lIns="0" tIns="0" rIns="0" bIns="0" rtlCol="0" anchor="t">
            <a:normAutofit/>
          </a:bodyPr>
          <a:lstStyle/>
          <a:p>
            <a:pPr marL="0" indent="0" algn="l">
              <a:lnSpc>
                <a:spcPts val="1486"/>
              </a:lnSpc>
              <a:buNone/>
            </a:pPr>
            <a:r>
              <a:rPr lang="en-US" sz="1061" dirty="0">
                <a:solidFill>
                  <a:srgbClr val="4A5563"/>
                </a:solidFill>
                <a:latin typeface="Arial" pitchFamily="34" charset="0"/>
                <a:ea typeface="Arial" pitchFamily="34" charset="-122"/>
                <a:cs typeface="Arial" pitchFamily="34" charset="-120"/>
              </a:rPr>
              <a:t>Shows the simple rain and wind rule's call and flags when the two disagree.</a:t>
            </a:r>
            <a:endParaRPr lang="en-US" sz="1061" dirty="0"/>
          </a:p>
        </p:txBody>
      </p:sp>
      <p:sp>
        <p:nvSpPr>
          <p:cNvPr id="12" name="Shape 10"/>
          <p:cNvSpPr/>
          <p:nvPr/>
        </p:nvSpPr>
        <p:spPr>
          <a:xfrm>
            <a:off x="7958634" y="2198390"/>
            <a:ext cx="3420566" cy="1329630"/>
          </a:xfrm>
          <a:prstGeom prst="roundRect">
            <a:avLst>
              <a:gd name="adj" fmla="val 7641"/>
            </a:avLst>
          </a:prstGeom>
          <a:solidFill>
            <a:srgbClr val="FFFFFF"/>
          </a:solidFill>
          <a:ln/>
        </p:spPr>
        <p:txBody>
          <a:bodyPr/>
          <a:lstStyle/>
          <a:p>
            <a:endParaRPr lang="en-NZ"/>
          </a:p>
        </p:txBody>
      </p:sp>
      <p:sp>
        <p:nvSpPr>
          <p:cNvPr id="13" name="Text 11"/>
          <p:cNvSpPr/>
          <p:nvPr/>
        </p:nvSpPr>
        <p:spPr>
          <a:xfrm>
            <a:off x="8161834" y="2401590"/>
            <a:ext cx="3104591" cy="211534"/>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2F6DB5"/>
                </a:solidFill>
                <a:latin typeface="Arial" pitchFamily="34" charset="0"/>
                <a:ea typeface="Arial" pitchFamily="34" charset="-122"/>
                <a:cs typeface="Arial" pitchFamily="34" charset="-120"/>
              </a:rPr>
              <a:t>COST</a:t>
            </a:r>
            <a:endParaRPr lang="en-US" sz="1050" dirty="0"/>
          </a:p>
        </p:txBody>
      </p:sp>
      <p:sp>
        <p:nvSpPr>
          <p:cNvPr id="14" name="Text 12"/>
          <p:cNvSpPr/>
          <p:nvPr/>
        </p:nvSpPr>
        <p:spPr>
          <a:xfrm>
            <a:off x="8161834" y="2663924"/>
            <a:ext cx="3104591" cy="237927"/>
          </a:xfrm>
          <a:prstGeom prst="rect">
            <a:avLst/>
          </a:prstGeom>
          <a:noFill/>
          <a:ln/>
        </p:spPr>
        <p:txBody>
          <a:bodyPr wrap="square" lIns="0" tIns="0" rIns="0" bIns="0" rtlCol="0" anchor="t">
            <a:normAutofit/>
          </a:bodyPr>
          <a:lstStyle/>
          <a:p>
            <a:pPr marL="0" indent="0" algn="l">
              <a:lnSpc>
                <a:spcPts val="1674"/>
              </a:lnSpc>
              <a:buNone/>
            </a:pPr>
            <a:r>
              <a:rPr lang="en-US" sz="1395" b="1" dirty="0">
                <a:solidFill>
                  <a:srgbClr val="1E2933"/>
                </a:solidFill>
                <a:latin typeface="Arial" pitchFamily="34" charset="0"/>
                <a:ea typeface="Arial" pitchFamily="34" charset="-122"/>
                <a:cs typeface="Arial" pitchFamily="34" charset="-120"/>
              </a:rPr>
              <a:t>NZ$ error estimate</a:t>
            </a:r>
            <a:endParaRPr lang="en-US" sz="1395" dirty="0"/>
          </a:p>
        </p:txBody>
      </p:sp>
      <p:sp>
        <p:nvSpPr>
          <p:cNvPr id="15" name="Text 13"/>
          <p:cNvSpPr/>
          <p:nvPr/>
        </p:nvSpPr>
        <p:spPr>
          <a:xfrm>
            <a:off x="8161834" y="2952651"/>
            <a:ext cx="3104591" cy="397570"/>
          </a:xfrm>
          <a:prstGeom prst="rect">
            <a:avLst/>
          </a:prstGeom>
          <a:noFill/>
          <a:ln/>
        </p:spPr>
        <p:txBody>
          <a:bodyPr wrap="square" lIns="0" tIns="0" rIns="0" bIns="0" rtlCol="0" anchor="t">
            <a:normAutofit/>
          </a:bodyPr>
          <a:lstStyle/>
          <a:p>
            <a:pPr marL="0" indent="0" algn="l">
              <a:lnSpc>
                <a:spcPts val="1486"/>
              </a:lnSpc>
              <a:buNone/>
            </a:pPr>
            <a:r>
              <a:rPr lang="en-US" sz="1061" dirty="0">
                <a:solidFill>
                  <a:srgbClr val="4A5563"/>
                </a:solidFill>
                <a:latin typeface="Arial" pitchFamily="34" charset="0"/>
                <a:ea typeface="Arial" pitchFamily="34" charset="-122"/>
                <a:cs typeface="Arial" pitchFamily="34" charset="-120"/>
              </a:rPr>
              <a:t>Adjustable costs (default $1,500 missed, $500 backup) for both recommendations.</a:t>
            </a:r>
            <a:endParaRPr lang="en-US" sz="1061" dirty="0"/>
          </a:p>
        </p:txBody>
      </p:sp>
      <p:sp>
        <p:nvSpPr>
          <p:cNvPr id="16" name="Shape 14"/>
          <p:cNvSpPr/>
          <p:nvPr/>
        </p:nvSpPr>
        <p:spPr>
          <a:xfrm>
            <a:off x="812800" y="3680420"/>
            <a:ext cx="3420467" cy="1329531"/>
          </a:xfrm>
          <a:prstGeom prst="roundRect">
            <a:avLst>
              <a:gd name="adj" fmla="val 7642"/>
            </a:avLst>
          </a:prstGeom>
          <a:solidFill>
            <a:srgbClr val="FFFFFF"/>
          </a:solidFill>
          <a:ln/>
        </p:spPr>
        <p:txBody>
          <a:bodyPr/>
          <a:lstStyle/>
          <a:p>
            <a:endParaRPr lang="en-NZ"/>
          </a:p>
        </p:txBody>
      </p:sp>
      <p:sp>
        <p:nvSpPr>
          <p:cNvPr id="17" name="Text 15"/>
          <p:cNvSpPr/>
          <p:nvPr/>
        </p:nvSpPr>
        <p:spPr>
          <a:xfrm>
            <a:off x="1016000" y="3883620"/>
            <a:ext cx="3104489" cy="211435"/>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2F6DB5"/>
                </a:solidFill>
                <a:latin typeface="Arial" pitchFamily="34" charset="0"/>
                <a:ea typeface="Arial" pitchFamily="34" charset="-122"/>
                <a:cs typeface="Arial" pitchFamily="34" charset="-120"/>
              </a:rPr>
              <a:t>BATCH</a:t>
            </a:r>
            <a:endParaRPr lang="en-US" sz="1050" dirty="0"/>
          </a:p>
        </p:txBody>
      </p:sp>
      <p:sp>
        <p:nvSpPr>
          <p:cNvPr id="18" name="Text 16"/>
          <p:cNvSpPr/>
          <p:nvPr/>
        </p:nvSpPr>
        <p:spPr>
          <a:xfrm>
            <a:off x="1016000" y="4145855"/>
            <a:ext cx="3104489" cy="237927"/>
          </a:xfrm>
          <a:prstGeom prst="rect">
            <a:avLst/>
          </a:prstGeom>
          <a:noFill/>
          <a:ln/>
        </p:spPr>
        <p:txBody>
          <a:bodyPr wrap="square" lIns="0" tIns="0" rIns="0" bIns="0" rtlCol="0" anchor="t">
            <a:normAutofit/>
          </a:bodyPr>
          <a:lstStyle/>
          <a:p>
            <a:pPr marL="0" indent="0" algn="l">
              <a:lnSpc>
                <a:spcPts val="1674"/>
              </a:lnSpc>
              <a:buNone/>
            </a:pPr>
            <a:r>
              <a:rPr lang="en-US" sz="1395" b="1" dirty="0">
                <a:solidFill>
                  <a:srgbClr val="1E2933"/>
                </a:solidFill>
                <a:latin typeface="Arial" pitchFamily="34" charset="0"/>
                <a:ea typeface="Arial" pitchFamily="34" charset="-122"/>
                <a:cs typeface="Arial" pitchFamily="34" charset="-120"/>
              </a:rPr>
              <a:t>Many dates</a:t>
            </a:r>
            <a:endParaRPr lang="en-US" sz="1395" dirty="0"/>
          </a:p>
        </p:txBody>
      </p:sp>
      <p:sp>
        <p:nvSpPr>
          <p:cNvPr id="19" name="Text 17"/>
          <p:cNvSpPr/>
          <p:nvPr/>
        </p:nvSpPr>
        <p:spPr>
          <a:xfrm>
            <a:off x="1016000" y="4434582"/>
            <a:ext cx="3104489" cy="397570"/>
          </a:xfrm>
          <a:prstGeom prst="rect">
            <a:avLst/>
          </a:prstGeom>
          <a:noFill/>
          <a:ln/>
        </p:spPr>
        <p:txBody>
          <a:bodyPr wrap="square" lIns="0" tIns="0" rIns="0" bIns="0" rtlCol="0" anchor="t">
            <a:normAutofit/>
          </a:bodyPr>
          <a:lstStyle/>
          <a:p>
            <a:pPr marL="0" indent="0" algn="l">
              <a:lnSpc>
                <a:spcPts val="1486"/>
              </a:lnSpc>
              <a:buNone/>
            </a:pPr>
            <a:r>
              <a:rPr lang="en-US" sz="1061" dirty="0">
                <a:solidFill>
                  <a:srgbClr val="4A5563"/>
                </a:solidFill>
                <a:latin typeface="Arial" pitchFamily="34" charset="0"/>
                <a:ea typeface="Arial" pitchFamily="34" charset="-122"/>
                <a:cs typeface="Arial" pitchFamily="34" charset="-120"/>
              </a:rPr>
              <a:t>CSV template, up to 500 dates, results table and download.</a:t>
            </a:r>
            <a:endParaRPr lang="en-US" sz="1061" dirty="0"/>
          </a:p>
        </p:txBody>
      </p:sp>
      <p:sp>
        <p:nvSpPr>
          <p:cNvPr id="20" name="Shape 18"/>
          <p:cNvSpPr/>
          <p:nvPr/>
        </p:nvSpPr>
        <p:spPr>
          <a:xfrm>
            <a:off x="4385667" y="3680420"/>
            <a:ext cx="3420566" cy="1329531"/>
          </a:xfrm>
          <a:prstGeom prst="roundRect">
            <a:avLst>
              <a:gd name="adj" fmla="val 7642"/>
            </a:avLst>
          </a:prstGeom>
          <a:solidFill>
            <a:srgbClr val="FFFFFF"/>
          </a:solidFill>
          <a:ln/>
        </p:spPr>
        <p:txBody>
          <a:bodyPr/>
          <a:lstStyle/>
          <a:p>
            <a:endParaRPr lang="en-NZ"/>
          </a:p>
        </p:txBody>
      </p:sp>
      <p:sp>
        <p:nvSpPr>
          <p:cNvPr id="21" name="Text 19"/>
          <p:cNvSpPr/>
          <p:nvPr/>
        </p:nvSpPr>
        <p:spPr>
          <a:xfrm>
            <a:off x="4588867" y="3883620"/>
            <a:ext cx="3104591" cy="211435"/>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2F6DB5"/>
                </a:solidFill>
                <a:latin typeface="Arial" pitchFamily="34" charset="0"/>
                <a:ea typeface="Arial" pitchFamily="34" charset="-122"/>
                <a:cs typeface="Arial" pitchFamily="34" charset="-120"/>
              </a:rPr>
              <a:t>FALLBACK</a:t>
            </a:r>
            <a:endParaRPr lang="en-US" sz="1050" dirty="0"/>
          </a:p>
        </p:txBody>
      </p:sp>
      <p:sp>
        <p:nvSpPr>
          <p:cNvPr id="22" name="Text 20"/>
          <p:cNvSpPr/>
          <p:nvPr/>
        </p:nvSpPr>
        <p:spPr>
          <a:xfrm>
            <a:off x="4588867" y="4145855"/>
            <a:ext cx="3104591" cy="237927"/>
          </a:xfrm>
          <a:prstGeom prst="rect">
            <a:avLst/>
          </a:prstGeom>
          <a:noFill/>
          <a:ln/>
        </p:spPr>
        <p:txBody>
          <a:bodyPr wrap="square" lIns="0" tIns="0" rIns="0" bIns="0" rtlCol="0" anchor="t">
            <a:normAutofit/>
          </a:bodyPr>
          <a:lstStyle/>
          <a:p>
            <a:pPr marL="0" indent="0" algn="l">
              <a:lnSpc>
                <a:spcPts val="1674"/>
              </a:lnSpc>
              <a:buNone/>
            </a:pPr>
            <a:r>
              <a:rPr lang="en-US" sz="1395" b="1" dirty="0">
                <a:solidFill>
                  <a:srgbClr val="1E2933"/>
                </a:solidFill>
                <a:latin typeface="Arial" pitchFamily="34" charset="0"/>
                <a:ea typeface="Arial" pitchFamily="34" charset="-122"/>
                <a:cs typeface="Arial" pitchFamily="34" charset="-120"/>
              </a:rPr>
              <a:t>Basic rule</a:t>
            </a:r>
            <a:endParaRPr lang="en-US" sz="1395" dirty="0"/>
          </a:p>
        </p:txBody>
      </p:sp>
      <p:sp>
        <p:nvSpPr>
          <p:cNvPr id="23" name="Text 21"/>
          <p:cNvSpPr/>
          <p:nvPr/>
        </p:nvSpPr>
        <p:spPr>
          <a:xfrm>
            <a:off x="4588867" y="4434582"/>
            <a:ext cx="3104591" cy="397570"/>
          </a:xfrm>
          <a:prstGeom prst="rect">
            <a:avLst/>
          </a:prstGeom>
          <a:noFill/>
          <a:ln/>
        </p:spPr>
        <p:txBody>
          <a:bodyPr wrap="square" lIns="0" tIns="0" rIns="0" bIns="0" rtlCol="0" anchor="t">
            <a:normAutofit/>
          </a:bodyPr>
          <a:lstStyle/>
          <a:p>
            <a:pPr marL="0" indent="0" algn="l">
              <a:lnSpc>
                <a:spcPts val="1486"/>
              </a:lnSpc>
              <a:buNone/>
            </a:pPr>
            <a:r>
              <a:rPr lang="en-US" sz="1061" dirty="0">
                <a:solidFill>
                  <a:srgbClr val="4A5563"/>
                </a:solidFill>
                <a:latin typeface="Arial" pitchFamily="34" charset="0"/>
                <a:ea typeface="Arial" pitchFamily="34" charset="-122"/>
                <a:cs typeface="Arial" pitchFamily="34" charset="-120"/>
              </a:rPr>
              <a:t>With no model file, it still gives the rain and wind check, without a probability.</a:t>
            </a:r>
            <a:endParaRPr lang="en-US" sz="1061" dirty="0"/>
          </a:p>
        </p:txBody>
      </p:sp>
      <p:sp>
        <p:nvSpPr>
          <p:cNvPr id="24" name="Shape 22"/>
          <p:cNvSpPr/>
          <p:nvPr/>
        </p:nvSpPr>
        <p:spPr>
          <a:xfrm>
            <a:off x="7958634" y="3680420"/>
            <a:ext cx="3420566" cy="1329531"/>
          </a:xfrm>
          <a:prstGeom prst="roundRect">
            <a:avLst>
              <a:gd name="adj" fmla="val 7642"/>
            </a:avLst>
          </a:prstGeom>
          <a:solidFill>
            <a:srgbClr val="FFFFFF"/>
          </a:solidFill>
          <a:ln/>
        </p:spPr>
        <p:txBody>
          <a:bodyPr/>
          <a:lstStyle/>
          <a:p>
            <a:endParaRPr lang="en-NZ"/>
          </a:p>
        </p:txBody>
      </p:sp>
      <p:sp>
        <p:nvSpPr>
          <p:cNvPr id="25" name="Text 23"/>
          <p:cNvSpPr/>
          <p:nvPr/>
        </p:nvSpPr>
        <p:spPr>
          <a:xfrm>
            <a:off x="8161834" y="3883620"/>
            <a:ext cx="3104591" cy="211435"/>
          </a:xfrm>
          <a:prstGeom prst="rect">
            <a:avLst/>
          </a:prstGeom>
          <a:noFill/>
          <a:ln/>
        </p:spPr>
        <p:txBody>
          <a:bodyPr wrap="square" lIns="0" tIns="0" rIns="0" bIns="0" rtlCol="0" anchor="t">
            <a:normAutofit/>
          </a:bodyPr>
          <a:lstStyle/>
          <a:p>
            <a:pPr marL="0" indent="0" algn="l">
              <a:lnSpc>
                <a:spcPts val="1470"/>
              </a:lnSpc>
              <a:buNone/>
            </a:pPr>
            <a:r>
              <a:rPr lang="en-US" sz="1050" b="1" dirty="0">
                <a:solidFill>
                  <a:srgbClr val="2F6DB5"/>
                </a:solidFill>
                <a:latin typeface="Arial" pitchFamily="34" charset="0"/>
                <a:ea typeface="Arial" pitchFamily="34" charset="-122"/>
                <a:cs typeface="Arial" pitchFamily="34" charset="-120"/>
              </a:rPr>
              <a:t>VALIDATE</a:t>
            </a:r>
            <a:endParaRPr lang="en-US" sz="1050" dirty="0"/>
          </a:p>
        </p:txBody>
      </p:sp>
      <p:sp>
        <p:nvSpPr>
          <p:cNvPr id="26" name="Text 24"/>
          <p:cNvSpPr/>
          <p:nvPr/>
        </p:nvSpPr>
        <p:spPr>
          <a:xfrm>
            <a:off x="8161834" y="4145855"/>
            <a:ext cx="3104591" cy="237927"/>
          </a:xfrm>
          <a:prstGeom prst="rect">
            <a:avLst/>
          </a:prstGeom>
          <a:noFill/>
          <a:ln/>
        </p:spPr>
        <p:txBody>
          <a:bodyPr wrap="square" lIns="0" tIns="0" rIns="0" bIns="0" rtlCol="0" anchor="t">
            <a:normAutofit/>
          </a:bodyPr>
          <a:lstStyle/>
          <a:p>
            <a:pPr marL="0" indent="0" algn="l">
              <a:lnSpc>
                <a:spcPts val="1674"/>
              </a:lnSpc>
              <a:buNone/>
            </a:pPr>
            <a:r>
              <a:rPr lang="en-US" sz="1395" b="1" dirty="0">
                <a:solidFill>
                  <a:srgbClr val="1E2933"/>
                </a:solidFill>
                <a:latin typeface="Arial" pitchFamily="34" charset="0"/>
                <a:ea typeface="Arial" pitchFamily="34" charset="-122"/>
                <a:cs typeface="Arial" pitchFamily="34" charset="-120"/>
              </a:rPr>
              <a:t>Safe inputs</a:t>
            </a:r>
            <a:endParaRPr lang="en-US" sz="1395" dirty="0"/>
          </a:p>
        </p:txBody>
      </p:sp>
      <p:sp>
        <p:nvSpPr>
          <p:cNvPr id="27" name="Text 25"/>
          <p:cNvSpPr/>
          <p:nvPr/>
        </p:nvSpPr>
        <p:spPr>
          <a:xfrm>
            <a:off x="8161834" y="4434582"/>
            <a:ext cx="3104591" cy="397570"/>
          </a:xfrm>
          <a:prstGeom prst="rect">
            <a:avLst/>
          </a:prstGeom>
          <a:noFill/>
          <a:ln/>
        </p:spPr>
        <p:txBody>
          <a:bodyPr wrap="square" lIns="0" tIns="0" rIns="0" bIns="0" rtlCol="0" anchor="t">
            <a:normAutofit/>
          </a:bodyPr>
          <a:lstStyle/>
          <a:p>
            <a:pPr marL="0" indent="0" algn="l">
              <a:lnSpc>
                <a:spcPts val="1486"/>
              </a:lnSpc>
              <a:buNone/>
            </a:pPr>
            <a:r>
              <a:rPr lang="en-US" sz="1061" dirty="0">
                <a:solidFill>
                  <a:srgbClr val="4A5563"/>
                </a:solidFill>
                <a:latin typeface="Arial" pitchFamily="34" charset="0"/>
                <a:ea typeface="Arial" pitchFamily="34" charset="-122"/>
                <a:cs typeface="Arial" pitchFamily="34" charset="-120"/>
              </a:rPr>
              <a:t>Checks the model package, feature order and every uploaded value.</a:t>
            </a:r>
            <a:endParaRPr lang="en-US" sz="1061" dirty="0"/>
          </a:p>
        </p:txBody>
      </p:sp>
      <p:sp>
        <p:nvSpPr>
          <p:cNvPr id="28" name="Shape 26"/>
          <p:cNvSpPr/>
          <p:nvPr/>
        </p:nvSpPr>
        <p:spPr>
          <a:xfrm>
            <a:off x="819150" y="5321102"/>
            <a:ext cx="5168900" cy="514548"/>
          </a:xfrm>
          <a:prstGeom prst="roundRect">
            <a:avLst>
              <a:gd name="adj" fmla="val 13575"/>
            </a:avLst>
          </a:prstGeom>
          <a:solidFill>
            <a:srgbClr val="E3F1E6"/>
          </a:solidFill>
          <a:ln w="12700">
            <a:solidFill>
              <a:srgbClr val="3C7A4A"/>
            </a:solidFill>
            <a:prstDash val="solid"/>
          </a:ln>
        </p:spPr>
        <p:txBody>
          <a:bodyPr/>
          <a:lstStyle/>
          <a:p>
            <a:endParaRPr lang="en-NZ"/>
          </a:p>
        </p:txBody>
      </p:sp>
      <p:sp>
        <p:nvSpPr>
          <p:cNvPr id="30" name="Text 27"/>
          <p:cNvSpPr/>
          <p:nvPr/>
        </p:nvSpPr>
        <p:spPr>
          <a:xfrm>
            <a:off x="1016000" y="5460924"/>
            <a:ext cx="388953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F4528"/>
                </a:solidFill>
                <a:latin typeface="Arial" pitchFamily="34" charset="0"/>
                <a:ea typeface="Arial" pitchFamily="34" charset="-122"/>
                <a:cs typeface="Arial" pitchFamily="34" charset="-120"/>
              </a:rPr>
              <a:t>Suitable to proceed</a:t>
            </a:r>
            <a:r>
              <a:rPr lang="en-US" sz="1400" dirty="0">
                <a:solidFill>
                  <a:srgbClr val="1F4528"/>
                </a:solidFill>
                <a:latin typeface="Arial" pitchFamily="34" charset="0"/>
                <a:ea typeface="Arial" pitchFamily="34" charset="-122"/>
                <a:cs typeface="Arial" pitchFamily="34" charset="-120"/>
              </a:rPr>
              <a:t> = below the threshold</a:t>
            </a:r>
            <a:endParaRPr lang="en-US" sz="1400" dirty="0"/>
          </a:p>
        </p:txBody>
      </p:sp>
      <p:sp>
        <p:nvSpPr>
          <p:cNvPr id="31" name="Shape 28"/>
          <p:cNvSpPr/>
          <p:nvPr/>
        </p:nvSpPr>
        <p:spPr>
          <a:xfrm>
            <a:off x="6203950" y="5321102"/>
            <a:ext cx="5168900" cy="514548"/>
          </a:xfrm>
          <a:prstGeom prst="roundRect">
            <a:avLst>
              <a:gd name="adj" fmla="val 13575"/>
            </a:avLst>
          </a:prstGeom>
          <a:solidFill>
            <a:srgbClr val="FBE8D6"/>
          </a:solidFill>
          <a:ln w="12700">
            <a:solidFill>
              <a:srgbClr val="C8681E"/>
            </a:solidFill>
            <a:prstDash val="solid"/>
          </a:ln>
        </p:spPr>
        <p:txBody>
          <a:bodyPr/>
          <a:lstStyle/>
          <a:p>
            <a:endParaRPr lang="en-NZ"/>
          </a:p>
        </p:txBody>
      </p:sp>
      <p:sp>
        <p:nvSpPr>
          <p:cNvPr id="33" name="Text 29"/>
          <p:cNvSpPr/>
          <p:nvPr/>
        </p:nvSpPr>
        <p:spPr>
          <a:xfrm>
            <a:off x="6377027" y="5460924"/>
            <a:ext cx="356961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C3410"/>
                </a:solidFill>
                <a:latin typeface="Arial" pitchFamily="34" charset="0"/>
                <a:ea typeface="Arial" pitchFamily="34" charset="-122"/>
                <a:cs typeface="Arial" pitchFamily="34" charset="-120"/>
              </a:rPr>
              <a:t>Prepare a backup plan</a:t>
            </a:r>
            <a:r>
              <a:rPr lang="en-US" sz="1400" dirty="0">
                <a:solidFill>
                  <a:srgbClr val="5C3410"/>
                </a:solidFill>
                <a:latin typeface="Arial" pitchFamily="34" charset="0"/>
                <a:ea typeface="Arial" pitchFamily="34" charset="-122"/>
                <a:cs typeface="Arial" pitchFamily="34" charset="-120"/>
              </a:rPr>
              <a:t> = at or above it</a:t>
            </a:r>
            <a:endParaRPr lang="en-US" sz="1400" dirty="0"/>
          </a:p>
        </p:txBody>
      </p:sp>
      <p:sp>
        <p:nvSpPr>
          <p:cNvPr id="34" name="Text 30"/>
          <p:cNvSpPr/>
          <p:nvPr/>
        </p:nvSpPr>
        <p:spPr>
          <a:xfrm>
            <a:off x="812800" y="6024959"/>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37D"/>
                </a:solidFill>
                <a:latin typeface="Arial" pitchFamily="34" charset="0"/>
                <a:ea typeface="Arial" pitchFamily="34" charset="-122"/>
                <a:cs typeface="Arial" pitchFamily="34" charset="-120"/>
              </a:rPr>
              <a:t>**The app still runs the earlier 2025 to 2026 CatBoost (threshold 0.50) until the 0.37 model is exported.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ORIGINALITY, CONTRIBUTION AND DIFFICULTY</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Built around the decision</a:t>
            </a:r>
            <a:endParaRPr lang="en-US" sz="3200" dirty="0"/>
          </a:p>
        </p:txBody>
      </p:sp>
      <p:sp>
        <p:nvSpPr>
          <p:cNvPr id="4" name="Text 2"/>
          <p:cNvSpPr/>
          <p:nvPr/>
        </p:nvSpPr>
        <p:spPr>
          <a:xfrm>
            <a:off x="812800" y="1899841"/>
            <a:ext cx="528472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2933"/>
                </a:solidFill>
                <a:latin typeface="Arial" pitchFamily="34" charset="0"/>
                <a:ea typeface="Arial" pitchFamily="34" charset="-122"/>
                <a:cs typeface="Arial" pitchFamily="34" charset="-120"/>
              </a:rPr>
              <a:t>What is different</a:t>
            </a:r>
            <a:endParaRPr lang="en-US" sz="1700" dirty="0"/>
          </a:p>
        </p:txBody>
      </p:sp>
      <p:sp>
        <p:nvSpPr>
          <p:cNvPr id="5" name="Shape 3"/>
          <p:cNvSpPr/>
          <p:nvPr/>
        </p:nvSpPr>
        <p:spPr>
          <a:xfrm>
            <a:off x="815975" y="2289076"/>
            <a:ext cx="5124450" cy="2566194"/>
          </a:xfrm>
          <a:prstGeom prst="roundRect">
            <a:avLst>
              <a:gd name="adj" fmla="val 3835"/>
            </a:avLst>
          </a:prstGeom>
          <a:solidFill>
            <a:srgbClr val="FFFFFF"/>
          </a:solidFill>
          <a:ln w="6350">
            <a:solidFill>
              <a:srgbClr val="D9DEE2"/>
            </a:solidFill>
            <a:prstDash val="solid"/>
          </a:ln>
        </p:spPr>
        <p:txBody>
          <a:bodyPr/>
          <a:lstStyle/>
          <a:p>
            <a:endParaRPr lang="en-NZ"/>
          </a:p>
        </p:txBody>
      </p:sp>
      <p:sp>
        <p:nvSpPr>
          <p:cNvPr id="6" name="Text 4"/>
          <p:cNvSpPr/>
          <p:nvPr/>
        </p:nvSpPr>
        <p:spPr>
          <a:xfrm>
            <a:off x="1022350" y="2495451"/>
            <a:ext cx="485305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2933"/>
                </a:solidFill>
                <a:latin typeface="Arial" pitchFamily="34" charset="0"/>
                <a:ea typeface="Arial" pitchFamily="34" charset="-122"/>
                <a:cs typeface="Arial" pitchFamily="34" charset="-120"/>
              </a:rPr>
              <a:t>Archived Day-7 forecasts as inputs: </a:t>
            </a:r>
            <a:r>
              <a:rPr lang="en-US" sz="1300" dirty="0">
                <a:solidFill>
                  <a:srgbClr val="1E2933"/>
                </a:solidFill>
                <a:latin typeface="Arial" pitchFamily="34" charset="0"/>
                <a:ea typeface="Arial" pitchFamily="34" charset="-122"/>
                <a:cs typeface="Arial" pitchFamily="34" charset="-120"/>
              </a:rPr>
              <a:t>only what the organiser could know a week ahead, never the observed weather.</a:t>
            </a:r>
            <a:endParaRPr lang="en-US" sz="1300" dirty="0"/>
          </a:p>
        </p:txBody>
      </p:sp>
      <p:sp>
        <p:nvSpPr>
          <p:cNvPr id="7" name="Text 5"/>
          <p:cNvSpPr/>
          <p:nvPr/>
        </p:nvSpPr>
        <p:spPr>
          <a:xfrm>
            <a:off x="1022350" y="3059212"/>
            <a:ext cx="485305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2933"/>
                </a:solidFill>
                <a:latin typeface="Arial" pitchFamily="34" charset="0"/>
                <a:ea typeface="Arial" pitchFamily="34" charset="-122"/>
                <a:cs typeface="Arial" pitchFamily="34" charset="-120"/>
              </a:rPr>
              <a:t>The market's own window and limits</a:t>
            </a:r>
            <a:r>
              <a:rPr lang="en-US" sz="1300" dirty="0">
                <a:solidFill>
                  <a:srgbClr val="1E2933"/>
                </a:solidFill>
                <a:latin typeface="Arial" pitchFamily="34" charset="0"/>
                <a:ea typeface="Arial" pitchFamily="34" charset="-122"/>
                <a:cs typeface="Arial" pitchFamily="34" charset="-120"/>
              </a:rPr>
              <a:t>: 10 am to 4 pm, over 2 mm rain or 30 km/h wind.</a:t>
            </a:r>
            <a:endParaRPr lang="en-US" sz="1300" dirty="0"/>
          </a:p>
        </p:txBody>
      </p:sp>
      <p:sp>
        <p:nvSpPr>
          <p:cNvPr id="8" name="Text 6"/>
          <p:cNvSpPr/>
          <p:nvPr/>
        </p:nvSpPr>
        <p:spPr>
          <a:xfrm>
            <a:off x="1022350" y="3622973"/>
            <a:ext cx="485305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2933"/>
                </a:solidFill>
                <a:latin typeface="Arial" pitchFamily="34" charset="0"/>
                <a:ea typeface="Arial" pitchFamily="34" charset="-122"/>
                <a:cs typeface="Arial" pitchFamily="34" charset="-120"/>
              </a:rPr>
              <a:t>Judged as a decision:</a:t>
            </a:r>
            <a:r>
              <a:rPr lang="en-US" sz="1300" dirty="0">
                <a:solidFill>
                  <a:srgbClr val="1E2933"/>
                </a:solidFill>
                <a:latin typeface="Arial" pitchFamily="34" charset="0"/>
                <a:ea typeface="Arial" pitchFamily="34" charset="-122"/>
                <a:cs typeface="Arial" pitchFamily="34" charset="-120"/>
              </a:rPr>
              <a:t> missed days vs false alarms, tuned thresholds, NZ$ cost scenarios and a forecast-rule benchmark.</a:t>
            </a:r>
            <a:endParaRPr lang="en-US" sz="1300" dirty="0"/>
          </a:p>
        </p:txBody>
      </p:sp>
      <p:sp>
        <p:nvSpPr>
          <p:cNvPr id="9" name="Text 7"/>
          <p:cNvSpPr/>
          <p:nvPr/>
        </p:nvSpPr>
        <p:spPr>
          <a:xfrm>
            <a:off x="1022350" y="4186734"/>
            <a:ext cx="485305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2933"/>
                </a:solidFill>
                <a:latin typeface="Arial" pitchFamily="34" charset="0"/>
                <a:ea typeface="Arial" pitchFamily="34" charset="-122"/>
                <a:cs typeface="Arial" pitchFamily="34" charset="-120"/>
              </a:rPr>
              <a:t>A working tool:</a:t>
            </a:r>
            <a:r>
              <a:rPr lang="en-US" sz="1300" dirty="0">
                <a:solidFill>
                  <a:srgbClr val="1E2933"/>
                </a:solidFill>
                <a:latin typeface="Arial" pitchFamily="34" charset="0"/>
                <a:ea typeface="Arial" pitchFamily="34" charset="-122"/>
                <a:cs typeface="Arial" pitchFamily="34" charset="-120"/>
              </a:rPr>
              <a:t> app with baseline comparison, cost estimate, batch dates and fallback.</a:t>
            </a:r>
            <a:endParaRPr lang="en-US" sz="1300" dirty="0"/>
          </a:p>
        </p:txBody>
      </p:sp>
      <p:sp>
        <p:nvSpPr>
          <p:cNvPr id="10" name="Text 8"/>
          <p:cNvSpPr/>
          <p:nvPr/>
        </p:nvSpPr>
        <p:spPr>
          <a:xfrm>
            <a:off x="6248400" y="1899841"/>
            <a:ext cx="528472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2933"/>
                </a:solidFill>
                <a:latin typeface="Arial" pitchFamily="34" charset="0"/>
                <a:ea typeface="Arial" pitchFamily="34" charset="-122"/>
                <a:cs typeface="Arial" pitchFamily="34" charset="-120"/>
              </a:rPr>
              <a:t>What was difficult</a:t>
            </a:r>
            <a:endParaRPr lang="en-US" sz="1700" dirty="0"/>
          </a:p>
        </p:txBody>
      </p:sp>
      <p:sp>
        <p:nvSpPr>
          <p:cNvPr id="11" name="Shape 9"/>
          <p:cNvSpPr/>
          <p:nvPr/>
        </p:nvSpPr>
        <p:spPr>
          <a:xfrm>
            <a:off x="6251575" y="2289076"/>
            <a:ext cx="5124450" cy="2566194"/>
          </a:xfrm>
          <a:prstGeom prst="roundRect">
            <a:avLst>
              <a:gd name="adj" fmla="val 3835"/>
            </a:avLst>
          </a:prstGeom>
          <a:solidFill>
            <a:srgbClr val="FFFFFF"/>
          </a:solidFill>
          <a:ln w="6350">
            <a:solidFill>
              <a:srgbClr val="D9DEE2"/>
            </a:solidFill>
            <a:prstDash val="solid"/>
          </a:ln>
        </p:spPr>
        <p:txBody>
          <a:bodyPr/>
          <a:lstStyle/>
          <a:p>
            <a:endParaRPr lang="en-NZ"/>
          </a:p>
        </p:txBody>
      </p:sp>
      <p:sp>
        <p:nvSpPr>
          <p:cNvPr id="12" name="Text 10"/>
          <p:cNvSpPr/>
          <p:nvPr/>
        </p:nvSpPr>
        <p:spPr>
          <a:xfrm>
            <a:off x="6457950" y="2495451"/>
            <a:ext cx="485305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2933"/>
                </a:solidFill>
                <a:latin typeface="Arial" pitchFamily="34" charset="0"/>
                <a:ea typeface="Arial" pitchFamily="34" charset="-122"/>
                <a:cs typeface="Arial" pitchFamily="34" charset="-120"/>
              </a:rPr>
              <a:t>Aligning two hourly sources:</a:t>
            </a:r>
            <a:r>
              <a:rPr lang="en-US" sz="1300" dirty="0">
                <a:solidFill>
                  <a:srgbClr val="1E2933"/>
                </a:solidFill>
                <a:latin typeface="Arial" pitchFamily="34" charset="0"/>
                <a:ea typeface="Arial" pitchFamily="34" charset="-122"/>
                <a:cs typeface="Arial" pitchFamily="34" charset="-120"/>
              </a:rPr>
              <a:t> across UTC and NZ daylight saving, keeping only complete days (949).</a:t>
            </a:r>
            <a:endParaRPr lang="en-US" sz="1300" dirty="0"/>
          </a:p>
        </p:txBody>
      </p:sp>
      <p:sp>
        <p:nvSpPr>
          <p:cNvPr id="13" name="Text 11"/>
          <p:cNvSpPr/>
          <p:nvPr/>
        </p:nvSpPr>
        <p:spPr>
          <a:xfrm>
            <a:off x="6457950" y="3059212"/>
            <a:ext cx="485305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2933"/>
                </a:solidFill>
                <a:latin typeface="Arial" pitchFamily="34" charset="0"/>
                <a:ea typeface="Arial" pitchFamily="34" charset="-122"/>
                <a:cs typeface="Arial" pitchFamily="34" charset="-120"/>
              </a:rPr>
              <a:t>Leakage safe validation:</a:t>
            </a:r>
            <a:r>
              <a:rPr lang="en-US" sz="1300" dirty="0">
                <a:solidFill>
                  <a:srgbClr val="1E2933"/>
                </a:solidFill>
                <a:latin typeface="Arial" pitchFamily="34" charset="0"/>
                <a:ea typeface="Arial" pitchFamily="34" charset="-122"/>
                <a:cs typeface="Arial" pitchFamily="34" charset="-120"/>
              </a:rPr>
              <a:t> a refit per validation day, over 10,000 fits across tuning.</a:t>
            </a:r>
            <a:endParaRPr lang="en-US" sz="1300" dirty="0"/>
          </a:p>
        </p:txBody>
      </p:sp>
      <p:sp>
        <p:nvSpPr>
          <p:cNvPr id="14" name="Text 12"/>
          <p:cNvSpPr/>
          <p:nvPr/>
        </p:nvSpPr>
        <p:spPr>
          <a:xfrm>
            <a:off x="6457950" y="3622973"/>
            <a:ext cx="485305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2933"/>
                </a:solidFill>
                <a:latin typeface="Arial" pitchFamily="34" charset="0"/>
                <a:ea typeface="Arial" pitchFamily="34" charset="-122"/>
                <a:cs typeface="Arial" pitchFamily="34" charset="-120"/>
              </a:rPr>
              <a:t>Short forecast data:</a:t>
            </a:r>
            <a:r>
              <a:rPr lang="en-US" sz="1300" dirty="0">
                <a:solidFill>
                  <a:srgbClr val="1E2933"/>
                </a:solidFill>
                <a:latin typeface="Arial" pitchFamily="34" charset="0"/>
                <a:ea typeface="Arial" pitchFamily="34" charset="-122"/>
                <a:cs typeface="Arial" pitchFamily="34" charset="-120"/>
              </a:rPr>
              <a:t> Day-7 forecasts only exist from Jan 2024, so two of each season to learn seasonality from.</a:t>
            </a:r>
            <a:endParaRPr lang="en-US" sz="1300" dirty="0"/>
          </a:p>
        </p:txBody>
      </p:sp>
      <p:sp>
        <p:nvSpPr>
          <p:cNvPr id="15" name="Text 13"/>
          <p:cNvSpPr/>
          <p:nvPr/>
        </p:nvSpPr>
        <p:spPr>
          <a:xfrm>
            <a:off x="6457950" y="4186734"/>
            <a:ext cx="485305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E2933"/>
                </a:solidFill>
                <a:latin typeface="Arial" pitchFamily="34" charset="0"/>
                <a:ea typeface="Arial" pitchFamily="34" charset="-122"/>
                <a:cs typeface="Arial" pitchFamily="34" charset="-120"/>
              </a:rPr>
              <a:t>Trustworthy outputs:</a:t>
            </a:r>
            <a:r>
              <a:rPr lang="en-US" sz="1300" dirty="0">
                <a:solidFill>
                  <a:srgbClr val="1E2933"/>
                </a:solidFill>
                <a:latin typeface="Arial" pitchFamily="34" charset="0"/>
                <a:ea typeface="Arial" pitchFamily="34" charset="-122"/>
                <a:cs typeface="Arial" pitchFamily="34" charset="-120"/>
              </a:rPr>
              <a:t> overstated probabilities, threshold choice.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DB5"/>
                </a:solidFill>
                <a:latin typeface="Arial" pitchFamily="34" charset="0"/>
                <a:ea typeface="Arial" pitchFamily="34" charset="-122"/>
                <a:cs typeface="Arial" pitchFamily="34" charset="-120"/>
              </a:rPr>
              <a:t>LIMITATIONS AND NEXT STEPS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E2933"/>
                </a:solidFill>
                <a:latin typeface="Georgia" pitchFamily="18" charset="0"/>
                <a:ea typeface="Georgia" pitchFamily="18" charset="-122"/>
                <a:cs typeface="Georgia" pitchFamily="18" charset="-120"/>
              </a:rPr>
              <a:t>What to treat with caution?</a:t>
            </a:r>
            <a:endParaRPr lang="en-US" sz="3200" dirty="0"/>
          </a:p>
        </p:txBody>
      </p:sp>
      <p:sp>
        <p:nvSpPr>
          <p:cNvPr id="4" name="Shape 2"/>
          <p:cNvSpPr/>
          <p:nvPr/>
        </p:nvSpPr>
        <p:spPr>
          <a:xfrm>
            <a:off x="815975" y="1953816"/>
            <a:ext cx="3414117" cy="1144191"/>
          </a:xfrm>
          <a:prstGeom prst="roundRect">
            <a:avLst>
              <a:gd name="adj" fmla="val 8602"/>
            </a:avLst>
          </a:prstGeom>
          <a:solidFill>
            <a:srgbClr val="FBE8D6"/>
          </a:solidFill>
          <a:ln w="12700">
            <a:solidFill>
              <a:srgbClr val="C8681E"/>
            </a:solidFill>
            <a:prstDash val="solid"/>
          </a:ln>
        </p:spPr>
        <p:txBody>
          <a:bodyPr/>
          <a:lstStyle/>
          <a:p>
            <a:endParaRPr lang="en-NZ"/>
          </a:p>
        </p:txBody>
      </p:sp>
      <p:sp>
        <p:nvSpPr>
          <p:cNvPr id="5" name="Text 3"/>
          <p:cNvSpPr/>
          <p:nvPr/>
        </p:nvSpPr>
        <p:spPr>
          <a:xfrm>
            <a:off x="1022350" y="2160191"/>
            <a:ext cx="30914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933"/>
                </a:solidFill>
                <a:latin typeface="Arial" pitchFamily="34" charset="0"/>
                <a:ea typeface="Arial" pitchFamily="34" charset="-122"/>
                <a:cs typeface="Arial" pitchFamily="34" charset="-120"/>
              </a:rPr>
              <a:t>Short history</a:t>
            </a:r>
            <a:endParaRPr lang="en-US" sz="1500" dirty="0"/>
          </a:p>
        </p:txBody>
      </p:sp>
      <p:sp>
        <p:nvSpPr>
          <p:cNvPr id="6" name="Text 4"/>
          <p:cNvSpPr/>
          <p:nvPr/>
        </p:nvSpPr>
        <p:spPr>
          <a:xfrm>
            <a:off x="1022350" y="2464991"/>
            <a:ext cx="30914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Arial" pitchFamily="34" charset="0"/>
                <a:ea typeface="Arial" pitchFamily="34" charset="-122"/>
                <a:cs typeface="Arial" pitchFamily="34" charset="-120"/>
              </a:rPr>
              <a:t>Day-7 forecasts start in Jan 2024: 40 bad validation days and 33 in test.</a:t>
            </a:r>
            <a:endParaRPr lang="en-US" sz="1200" dirty="0"/>
          </a:p>
        </p:txBody>
      </p:sp>
      <p:sp>
        <p:nvSpPr>
          <p:cNvPr id="7" name="Shape 5"/>
          <p:cNvSpPr/>
          <p:nvPr/>
        </p:nvSpPr>
        <p:spPr>
          <a:xfrm>
            <a:off x="4388842" y="1953816"/>
            <a:ext cx="3414216" cy="1144191"/>
          </a:xfrm>
          <a:prstGeom prst="roundRect">
            <a:avLst>
              <a:gd name="adj" fmla="val 8602"/>
            </a:avLst>
          </a:prstGeom>
          <a:solidFill>
            <a:srgbClr val="FBE8D6"/>
          </a:solidFill>
          <a:ln w="12700">
            <a:solidFill>
              <a:srgbClr val="C8681E"/>
            </a:solidFill>
            <a:prstDash val="solid"/>
          </a:ln>
        </p:spPr>
        <p:txBody>
          <a:bodyPr/>
          <a:lstStyle/>
          <a:p>
            <a:endParaRPr lang="en-NZ"/>
          </a:p>
        </p:txBody>
      </p:sp>
      <p:sp>
        <p:nvSpPr>
          <p:cNvPr id="8" name="Text 6"/>
          <p:cNvSpPr/>
          <p:nvPr/>
        </p:nvSpPr>
        <p:spPr>
          <a:xfrm>
            <a:off x="4595217" y="2160191"/>
            <a:ext cx="309151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933"/>
                </a:solidFill>
                <a:latin typeface="Arial" pitchFamily="34" charset="0"/>
                <a:ea typeface="Arial" pitchFamily="34" charset="-122"/>
                <a:cs typeface="Arial" pitchFamily="34" charset="-120"/>
              </a:rPr>
              <a:t>Two features</a:t>
            </a:r>
            <a:endParaRPr lang="en-US" sz="1500" dirty="0"/>
          </a:p>
        </p:txBody>
      </p:sp>
      <p:sp>
        <p:nvSpPr>
          <p:cNvPr id="9" name="Text 7"/>
          <p:cNvSpPr/>
          <p:nvPr/>
        </p:nvSpPr>
        <p:spPr>
          <a:xfrm>
            <a:off x="4595217" y="2464991"/>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Arial" pitchFamily="34" charset="0"/>
                <a:ea typeface="Arial" pitchFamily="34" charset="-122"/>
                <a:cs typeface="Arial" pitchFamily="34" charset="-120"/>
              </a:rPr>
              <a:t>No season, gusts, temperature or Day 1 to 6 forecast trends yet.</a:t>
            </a:r>
            <a:endParaRPr lang="en-US" sz="1200" dirty="0"/>
          </a:p>
        </p:txBody>
      </p:sp>
      <p:sp>
        <p:nvSpPr>
          <p:cNvPr id="10" name="Shape 8"/>
          <p:cNvSpPr/>
          <p:nvPr/>
        </p:nvSpPr>
        <p:spPr>
          <a:xfrm>
            <a:off x="8009433" y="1953815"/>
            <a:ext cx="3414216" cy="1144191"/>
          </a:xfrm>
          <a:prstGeom prst="roundRect">
            <a:avLst>
              <a:gd name="adj" fmla="val 8602"/>
            </a:avLst>
          </a:prstGeom>
          <a:solidFill>
            <a:srgbClr val="FBE8D6"/>
          </a:solidFill>
          <a:ln w="12700">
            <a:solidFill>
              <a:srgbClr val="C8681E"/>
            </a:solidFill>
            <a:prstDash val="solid"/>
          </a:ln>
        </p:spPr>
        <p:txBody>
          <a:bodyPr/>
          <a:lstStyle/>
          <a:p>
            <a:endParaRPr lang="en-NZ"/>
          </a:p>
        </p:txBody>
      </p:sp>
      <p:sp>
        <p:nvSpPr>
          <p:cNvPr id="11" name="Text 9"/>
          <p:cNvSpPr/>
          <p:nvPr/>
        </p:nvSpPr>
        <p:spPr>
          <a:xfrm>
            <a:off x="8168184" y="2160191"/>
            <a:ext cx="309151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933"/>
                </a:solidFill>
                <a:latin typeface="Arial" pitchFamily="34" charset="0"/>
                <a:ea typeface="Arial" pitchFamily="34" charset="-122"/>
                <a:cs typeface="Arial" pitchFamily="34" charset="-120"/>
              </a:rPr>
              <a:t>Overstated risk</a:t>
            </a:r>
            <a:endParaRPr lang="en-US" sz="1500" dirty="0"/>
          </a:p>
        </p:txBody>
      </p:sp>
      <p:sp>
        <p:nvSpPr>
          <p:cNvPr id="12" name="Text 10"/>
          <p:cNvSpPr/>
          <p:nvPr/>
        </p:nvSpPr>
        <p:spPr>
          <a:xfrm>
            <a:off x="8168184" y="2464991"/>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Arial" pitchFamily="34" charset="0"/>
                <a:ea typeface="Arial" pitchFamily="34" charset="-122"/>
                <a:cs typeface="Arial" pitchFamily="34" charset="-120"/>
              </a:rPr>
              <a:t>Probabilities run high, recalibrate before showing the risk % as a literal chance.</a:t>
            </a:r>
            <a:endParaRPr lang="en-US" sz="1200" dirty="0"/>
          </a:p>
        </p:txBody>
      </p:sp>
      <p:sp>
        <p:nvSpPr>
          <p:cNvPr id="13" name="Shape 11"/>
          <p:cNvSpPr/>
          <p:nvPr/>
        </p:nvSpPr>
        <p:spPr>
          <a:xfrm>
            <a:off x="815975" y="3256756"/>
            <a:ext cx="3414117" cy="1144191"/>
          </a:xfrm>
          <a:prstGeom prst="roundRect">
            <a:avLst>
              <a:gd name="adj" fmla="val 8602"/>
            </a:avLst>
          </a:prstGeom>
          <a:solidFill>
            <a:srgbClr val="FBE8D6"/>
          </a:solidFill>
          <a:ln w="12700">
            <a:solidFill>
              <a:srgbClr val="C8681E"/>
            </a:solidFill>
            <a:prstDash val="solid"/>
          </a:ln>
        </p:spPr>
        <p:txBody>
          <a:bodyPr/>
          <a:lstStyle/>
          <a:p>
            <a:endParaRPr lang="en-NZ"/>
          </a:p>
        </p:txBody>
      </p:sp>
      <p:sp>
        <p:nvSpPr>
          <p:cNvPr id="14" name="Text 12"/>
          <p:cNvSpPr/>
          <p:nvPr/>
        </p:nvSpPr>
        <p:spPr>
          <a:xfrm>
            <a:off x="1022350" y="3463131"/>
            <a:ext cx="30914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933"/>
                </a:solidFill>
                <a:latin typeface="Arial" pitchFamily="34" charset="0"/>
                <a:ea typeface="Arial" pitchFamily="34" charset="-122"/>
                <a:cs typeface="Arial" pitchFamily="34" charset="-120"/>
              </a:rPr>
              <a:t>More false alarms</a:t>
            </a:r>
            <a:endParaRPr lang="en-US" sz="1500" dirty="0"/>
          </a:p>
        </p:txBody>
      </p:sp>
      <p:sp>
        <p:nvSpPr>
          <p:cNvPr id="15" name="Text 13"/>
          <p:cNvSpPr/>
          <p:nvPr/>
        </p:nvSpPr>
        <p:spPr>
          <a:xfrm>
            <a:off x="1022350" y="3767931"/>
            <a:ext cx="30914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Arial" pitchFamily="34" charset="0"/>
                <a:ea typeface="Arial" pitchFamily="34" charset="-122"/>
                <a:cs typeface="Arial" pitchFamily="34" charset="-120"/>
              </a:rPr>
              <a:t>At 0.37 it raised 25 false alarms on 110 good test days, 10 more than the rule.</a:t>
            </a:r>
            <a:endParaRPr lang="en-US" sz="1200" dirty="0"/>
          </a:p>
        </p:txBody>
      </p:sp>
      <p:sp>
        <p:nvSpPr>
          <p:cNvPr id="16" name="Shape 14"/>
          <p:cNvSpPr/>
          <p:nvPr/>
        </p:nvSpPr>
        <p:spPr>
          <a:xfrm>
            <a:off x="4388842" y="3256756"/>
            <a:ext cx="3414216" cy="1144191"/>
          </a:xfrm>
          <a:prstGeom prst="roundRect">
            <a:avLst>
              <a:gd name="adj" fmla="val 8602"/>
            </a:avLst>
          </a:prstGeom>
          <a:solidFill>
            <a:srgbClr val="FBE8D6"/>
          </a:solidFill>
          <a:ln w="12700">
            <a:solidFill>
              <a:srgbClr val="C8681E"/>
            </a:solidFill>
            <a:prstDash val="solid"/>
          </a:ln>
        </p:spPr>
        <p:txBody>
          <a:bodyPr/>
          <a:lstStyle/>
          <a:p>
            <a:endParaRPr lang="en-NZ"/>
          </a:p>
        </p:txBody>
      </p:sp>
      <p:sp>
        <p:nvSpPr>
          <p:cNvPr id="17" name="Text 15"/>
          <p:cNvSpPr/>
          <p:nvPr/>
        </p:nvSpPr>
        <p:spPr>
          <a:xfrm>
            <a:off x="4595217" y="3463131"/>
            <a:ext cx="309151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E2933"/>
                </a:solidFill>
                <a:latin typeface="Arial" pitchFamily="34" charset="0"/>
                <a:ea typeface="Arial" pitchFamily="34" charset="-122"/>
                <a:cs typeface="Arial" pitchFamily="34" charset="-120"/>
              </a:rPr>
              <a:t>Assumed costs</a:t>
            </a:r>
            <a:endParaRPr lang="en-US" sz="1500" dirty="0"/>
          </a:p>
        </p:txBody>
      </p:sp>
      <p:sp>
        <p:nvSpPr>
          <p:cNvPr id="18" name="Text 16"/>
          <p:cNvSpPr/>
          <p:nvPr/>
        </p:nvSpPr>
        <p:spPr>
          <a:xfrm>
            <a:off x="4595217" y="3767931"/>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Arial" pitchFamily="34" charset="0"/>
                <a:ea typeface="Arial" pitchFamily="34" charset="-122"/>
                <a:cs typeface="Arial" pitchFamily="34" charset="-120"/>
              </a:rPr>
              <a:t>Dollar figures are scenarios, real organiser costs would better the threshold.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933"/>
        </a:solidFill>
        <a:effectLst/>
      </p:bgPr>
    </p:bg>
    <p:spTree>
      <p:nvGrpSpPr>
        <p:cNvPr id="1" name=""/>
        <p:cNvGrpSpPr/>
        <p:nvPr/>
      </p:nvGrpSpPr>
      <p:grpSpPr>
        <a:xfrm>
          <a:off x="0" y="0"/>
          <a:ext cx="0" cy="0"/>
          <a:chOff x="0" y="0"/>
          <a:chExt cx="0" cy="0"/>
        </a:xfrm>
      </p:grpSpPr>
      <p:sp>
        <p:nvSpPr>
          <p:cNvPr id="2" name="Text 0"/>
          <p:cNvSpPr/>
          <p:nvPr/>
        </p:nvSpPr>
        <p:spPr>
          <a:xfrm>
            <a:off x="812800" y="175269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E9A867"/>
                </a:solidFill>
                <a:latin typeface="Arial" pitchFamily="34" charset="0"/>
                <a:ea typeface="Arial" pitchFamily="34" charset="-122"/>
                <a:cs typeface="Arial" pitchFamily="34" charset="-120"/>
              </a:rPr>
              <a:t>TAKEAWAY</a:t>
            </a:r>
            <a:endParaRPr lang="en-US" sz="1400" dirty="0"/>
          </a:p>
        </p:txBody>
      </p:sp>
      <p:sp>
        <p:nvSpPr>
          <p:cNvPr id="3" name="Text 1"/>
          <p:cNvSpPr>
            <a:spLocks noGrp="1"/>
          </p:cNvSpPr>
          <p:nvPr>
            <p:ph type="title"/>
          </p:nvPr>
        </p:nvSpPr>
        <p:spPr>
          <a:xfrm>
            <a:off x="812800" y="2357140"/>
            <a:ext cx="10464800" cy="17780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6F4EE"/>
                </a:solidFill>
                <a:latin typeface="Georgia" pitchFamily="18" charset="0"/>
                <a:ea typeface="Georgia" pitchFamily="18" charset="-122"/>
                <a:cs typeface="Georgia" pitchFamily="18" charset="-120"/>
              </a:rPr>
              <a:t>The </a:t>
            </a:r>
            <a:r>
              <a:rPr lang="en-US" sz="4000" b="1" i="0" dirty="0" err="1">
                <a:solidFill>
                  <a:srgbClr val="F6F4EE"/>
                </a:solidFill>
                <a:latin typeface="Georgia" pitchFamily="18" charset="0"/>
                <a:ea typeface="Georgia" pitchFamily="18" charset="-122"/>
                <a:cs typeface="Georgia" pitchFamily="18" charset="-120"/>
              </a:rPr>
              <a:t>CatBoost</a:t>
            </a:r>
            <a:r>
              <a:rPr lang="en-US" sz="4000" b="1" i="0" dirty="0">
                <a:solidFill>
                  <a:srgbClr val="F6F4EE"/>
                </a:solidFill>
                <a:latin typeface="Georgia" pitchFamily="18" charset="0"/>
                <a:ea typeface="Georgia" pitchFamily="18" charset="-122"/>
                <a:cs typeface="Georgia" pitchFamily="18" charset="-120"/>
              </a:rPr>
              <a:t> model flags 7 more bad market days than the forecast rule, for 10 extra false alarms.</a:t>
            </a:r>
            <a:endParaRPr lang="en-US" sz="4000" dirty="0"/>
          </a:p>
        </p:txBody>
      </p:sp>
      <p:sp>
        <p:nvSpPr>
          <p:cNvPr id="4" name="Text 2"/>
          <p:cNvSpPr/>
          <p:nvPr/>
        </p:nvSpPr>
        <p:spPr>
          <a:xfrm>
            <a:off x="812800" y="4465340"/>
            <a:ext cx="9810750" cy="665361"/>
          </a:xfrm>
          <a:prstGeom prst="rect">
            <a:avLst/>
          </a:prstGeom>
          <a:noFill/>
          <a:ln/>
        </p:spPr>
        <p:txBody>
          <a:bodyPr wrap="square" lIns="0" tIns="0" rIns="0" bIns="0" rtlCol="0" anchor="t">
            <a:normAutofit/>
          </a:bodyPr>
          <a:lstStyle/>
          <a:p>
            <a:pPr>
              <a:lnSpc>
                <a:spcPts val="2520"/>
              </a:lnSpc>
            </a:pPr>
            <a:r>
              <a:rPr lang="en-US" sz="1800" dirty="0">
                <a:solidFill>
                  <a:srgbClr val="C9D3DB"/>
                </a:solidFill>
                <a:latin typeface="Arial" pitchFamily="34" charset="0"/>
                <a:ea typeface="Arial" pitchFamily="34" charset="-122"/>
                <a:cs typeface="Arial" pitchFamily="34" charset="-120"/>
              </a:rPr>
              <a:t>That trade is worth it whenever a missed day costs more than about 1.4 times</a:t>
            </a:r>
            <a:r>
              <a:rPr lang="en-US" dirty="0">
                <a:solidFill>
                  <a:srgbClr val="C9D3DB"/>
                </a:solidFill>
                <a:latin typeface="Arial" pitchFamily="34" charset="0"/>
                <a:ea typeface="Arial" pitchFamily="34" charset="-122"/>
                <a:cs typeface="Arial" pitchFamily="34" charset="-120"/>
              </a:rPr>
              <a:t> (10/7)</a:t>
            </a:r>
            <a:r>
              <a:rPr lang="en-US" sz="1800" dirty="0">
                <a:solidFill>
                  <a:srgbClr val="C9D3DB"/>
                </a:solidFill>
                <a:latin typeface="Arial" pitchFamily="34" charset="0"/>
                <a:ea typeface="Arial" pitchFamily="34" charset="-122"/>
                <a:cs typeface="Arial" pitchFamily="34" charset="-120"/>
              </a:rPr>
              <a:t> a false alarm.</a:t>
            </a:r>
            <a:endParaRPr lang="en-US" sz="1800" dirty="0"/>
          </a:p>
        </p:txBody>
      </p:sp>
    </p:spTree>
  </p:cSld>
  <p:clrMapOvr>
    <a:masterClrMapping/>
  </p:clrMapOvr>
</p:sld>
</file>

<file path=ppt/theme/theme1.xml><?xml version="1.0" encoding="utf-8"?>
<a:theme xmlns:a="http://schemas.openxmlformats.org/drawingml/2006/main" name="Market Weather Decision Support">
  <a:themeElements>
    <a:clrScheme name="Market Weather Decision Support">
      <a:dk1>
        <a:srgbClr val="1E2933"/>
      </a:dk1>
      <a:lt1>
        <a:srgbClr val="F6F4EE"/>
      </a:lt1>
      <a:dk2>
        <a:srgbClr val="545C62"/>
      </a:dk2>
      <a:lt2>
        <a:srgbClr val="E0E0DB"/>
      </a:lt2>
      <a:accent1>
        <a:srgbClr val="2F6DB5"/>
      </a:accent1>
      <a:accent2>
        <a:srgbClr val="1D4A80"/>
      </a:accent2>
      <a:accent3>
        <a:srgbClr val="D9822B"/>
      </a:accent3>
      <a:accent4>
        <a:srgbClr val="7A3A0C"/>
      </a:accent4>
      <a:accent5>
        <a:srgbClr val="5C3410"/>
      </a:accent5>
      <a:accent6>
        <a:srgbClr val="E9A867"/>
      </a:accent6>
      <a:hlink>
        <a:srgbClr val="0563C1"/>
      </a:hlink>
      <a:folHlink>
        <a:srgbClr val="954F72"/>
      </a:folHlink>
    </a:clrScheme>
    <a:fontScheme name="Market Weather Decision Suppo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2681</Words>
  <Application>Microsoft Office PowerPoint</Application>
  <PresentationFormat>Widescreen</PresentationFormat>
  <Paragraphs>359</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Georgia</vt:lpstr>
      <vt:lpstr>Market Weather Decision Support</vt:lpstr>
      <vt:lpstr>Will a market day be rained or blown out?</vt:lpstr>
      <vt:lpstr>Seven days out, organisers must choose how to prepare</vt:lpstr>
      <vt:lpstr>The two error types do not cost the same.</vt:lpstr>
      <vt:lpstr>Two hourly sources</vt:lpstr>
      <vt:lpstr>Two forecast features predict one observed outcome</vt:lpstr>
      <vt:lpstr>Day-7 forecasts underestimate both rain and wind</vt:lpstr>
      <vt:lpstr>Split by time, with seven-day gaps</vt:lpstr>
      <vt:lpstr>Untuned, three of five models beat the forecast rule</vt:lpstr>
      <vt:lpstr>Tuning nudged ranking up, making probabilities run high</vt:lpstr>
      <vt:lpstr>CatBoost wins! at 0.37 threshold catches 36/40 bad days</vt:lpstr>
      <vt:lpstr>On unseen days CatBoost caught 22/33 bad days</vt:lpstr>
      <vt:lpstr>The model pays off once a missed day costs more</vt:lpstr>
      <vt:lpstr>From forecast to a plan, with the baseline beside it</vt:lpstr>
      <vt:lpstr>Built around the decision</vt:lpstr>
      <vt:lpstr>What to treat with caution?</vt:lpstr>
      <vt:lpstr>The CatBoost model flags 7 more bad market days than the forecast rule, for 10 extra false alarms.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Weather Decision Support</dc:title>
  <dc:subject/>
  <dc:creator/>
  <cp:lastModifiedBy>Josh Smith</cp:lastModifiedBy>
  <cp:revision>4</cp:revision>
  <dcterms:created xsi:type="dcterms:W3CDTF">2026-10-13T00:58:16Z</dcterms:created>
  <dcterms:modified xsi:type="dcterms:W3CDTF">2026-10-13T02:10:41Z</dcterms:modified>
</cp:coreProperties>
</file>